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300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 ENGINEERING 2 · SECTION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2373"/>
            <a:ext cx="1056616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Locators</a:t>
            </a:r>
            <a:endParaRPr lang="en-US" sz="43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assertions</a:t>
            </a:r>
            <a:endParaRPr lang="en-US" sz="43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3583259"/>
            <a:ext cx="10566166" cy="669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Last week the script opened pages. This week it finds the button, presses it, and checks what happened — on its own.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12810" y="4493819"/>
            <a:ext cx="10566166" cy="640994"/>
          </a:xfrm>
          <a:prstGeom prst="roundRect">
            <a:avLst>
              <a:gd name="adj" fmla="val 15849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1410" y="4671578"/>
            <a:ext cx="101089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 · Faculty of Computers and Information, Menoufia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5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FIRST, ONE THING FROM LAST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5596"/>
            <a:ext cx="10566166" cy="440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browsers open. Why?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23623"/>
            <a:ext cx="4597329" cy="3583259"/>
          </a:xfrm>
          <a:prstGeom prst="roundRect">
            <a:avLst>
              <a:gd name="adj" fmla="val 24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140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FirstTest {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617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6093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WebDriver driver = new ChromeDriver();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85704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10466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@BeforeTest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35228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prepare() {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5999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 = new ChromeDriver();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8476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40952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75188" y="1923623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6498" y="2152223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16498" y="2425172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#1, when the class is built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575188" y="3035076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6498" y="3263585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16498" y="3536625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#2, before the test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575188" y="4146438"/>
            <a:ext cx="5803788" cy="1360353"/>
          </a:xfrm>
          <a:prstGeom prst="roundRect">
            <a:avLst>
              <a:gd name="adj" fmla="val 7468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16498" y="4375038"/>
            <a:ext cx="5321168" cy="19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RULE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816498" y="4649450"/>
            <a:ext cx="5321168" cy="270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driver, one place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16498" y="5000122"/>
            <a:ext cx="5321168" cy="278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Field or @BeforeTest. Never both.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2810" y="5744535"/>
            <a:ext cx="10566166" cy="30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 only reaches the second one. The first stays open for ever.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LAST WEEK, TWO MORE THINGS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93018"/>
            <a:ext cx="10566166" cy="38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open tab, and two ways to close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788749"/>
            <a:ext cx="5206868" cy="3783421"/>
          </a:xfrm>
          <a:prstGeom prst="roundRect">
            <a:avLst>
              <a:gd name="adj" fmla="val 2349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197921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first = driver.getWindowHandle();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19830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41739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driver.findElement(By.linkText(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63639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"Open the Waits page in a new tab")).click();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85548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07457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Set&lt;String&gt; all = driver.getWindowHandles();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293669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all.size();          // 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51266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73175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 (String h : all) {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395084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driver.switchTo().window(h);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169938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7437" y="1788749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8748" y="2017349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GETWINDOWHANDLE()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38748" y="2241560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String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28133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tab the driver is on now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97437" y="3082808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8748" y="3311408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GETWINDOWHANDLES()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38748" y="3535619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Set of every tab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438748" y="3822192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 over it to switch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97437" y="4376958"/>
            <a:ext cx="5181448" cy="1195212"/>
          </a:xfrm>
          <a:prstGeom prst="roundRect">
            <a:avLst>
              <a:gd name="adj" fmla="val 850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38748" y="4605558"/>
            <a:ext cx="4698919" cy="15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CLOSE() OR QUIT()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38748" y="4829769"/>
            <a:ext cx="4698919" cy="220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close(): this tab only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38748" y="5116342"/>
            <a:ext cx="4698919" cy="22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quit(): every tab, and the session ends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81020"/>
            <a:ext cx="10566166" cy="264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close(), switch to another tab before you use the driver again.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61684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056211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it. Act on it. Check it.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253801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612612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the script points at one element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5568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878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36878" y="3253801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Click, type, 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36878" y="3612612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do once you found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8418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728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19728" y="3253801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728" y="3612612"/>
            <a:ext cx="203508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step that turns a script into a test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61176" y="2744572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2486" y="2973172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YOUR TASK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2486" y="3253801"/>
            <a:ext cx="203508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Weeks 3 and 4 together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02486" y="3888760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parts, explained step by step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493593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Most of the time today goes on the task. The assert is one line.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6472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0409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script cannot see the button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192457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see a box that says Username. Selenium sees this: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10" y="2729027"/>
            <a:ext cx="10566166" cy="895289"/>
          </a:xfrm>
          <a:prstGeom prst="roundRect">
            <a:avLst>
              <a:gd name="adj" fmla="val 992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8700" y="291949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&lt;input class="input_error form_input" placeholder="Username" type="text"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17662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data-test="username" id="user-name" name="user-name" value=""&gt;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4029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4029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kind of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852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1162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ATTRIBUTES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 name class 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1162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labels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66893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08203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"user-name"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08203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search for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8804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locator is a search: find the one element whose label has this value.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439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ON YOUR LAPTOP NOW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8339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 at the HTML yourself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Right-click the field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Inspect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or press F12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6059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2736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2736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highlighted 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2736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Elements tab jumps to that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930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61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617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Press Ctrl + F in Elements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617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your locator there to test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3264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395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3957" y="3080979"/>
            <a:ext cx="206370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for “1 of 1”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73957" y="3439698"/>
            <a:ext cx="206370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one match. Zero or two is a bug in your locator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810" y="4763018"/>
            <a:ext cx="10566166" cy="650870"/>
          </a:xfrm>
          <a:prstGeom prst="roundRect">
            <a:avLst>
              <a:gd name="adj" fmla="val 15608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1410" y="4940778"/>
            <a:ext cx="101089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it on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saucedemo.com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now: inspect the Password field and read its id, name and data-test.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3954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7890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findElement or findElements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67269"/>
          <a:ext cx="10566166" cy="914400"/>
        </p:xfrm>
        <a:graphic>
          <a:graphicData uri="http://schemas.openxmlformats.org/drawingml/2006/table">
            <a:tbl>
              <a:tblPr/>
              <a:tblGrid>
                <a:gridCol w="2747203"/>
                <a:gridCol w="3909482"/>
                <a:gridCol w="39094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driver.findElements(...)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Returns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WebElement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List&lt;WebElement&gt;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two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Takes the first one, silently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Gives you both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none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Throws NoSuchElementException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 empty list, size 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for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element you are about to click or type in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Counting, or checking that something is not there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10" y="4542008"/>
            <a:ext cx="10566166" cy="876270"/>
          </a:xfrm>
          <a:prstGeom prst="roundRect">
            <a:avLst>
              <a:gd name="adj" fmla="val 1014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8700" y="4732569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28700" y="4980188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driver.findElements(By.tagName("input")).size();   // 3 on the login page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1671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ALL CHECKED ON SAUCEDEMO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13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Eight ways to point at an element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39401"/>
          <a:ext cx="10566166" cy="914400"/>
        </p:xfrm>
        <a:graphic>
          <a:graphicData uri="http://schemas.openxmlformats.org/drawingml/2006/table">
            <a:tbl>
              <a:tblPr/>
              <a:tblGrid>
                <a:gridCol w="2535880"/>
                <a:gridCol w="4649113"/>
                <a:gridCol w="33811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LOCATOR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By.id("user-name")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Username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By.name("password")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Password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By.className("login_logo")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Swag Labs logo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By.tagName("input")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 3 inputs — not one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By.linkText("Facebook")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its full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By.partialLinkText("Linked")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part of it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By.cssSelector("[data-test='password']")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by any attribute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By.xpath("//input[@type='submit']")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even by its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34101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two can do everything the first six do. That is why they get their own slides.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8105"/>
            <a:ext cx="10566166" cy="40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Which one to use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5468"/>
            <a:ext cx="1539210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Unique by rule. Use it when it is there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8849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9015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19015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90159" y="2695468"/>
            <a:ext cx="1539210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unique in a 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4978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6289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26289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26289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 for testers. It does not change with the design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2101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62327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62327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62327" y="2695468"/>
            <a:ext cx="1539210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Short and fast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35714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98457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98457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XPath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598457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nothing else works, or you need the text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281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029" y="4283507"/>
            <a:ext cx="296329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4029" y="4527012"/>
            <a:ext cx="2963296" cy="47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/html/body/div[2]/div/form/input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54029" y="5078029"/>
            <a:ext cx="2963296" cy="246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new div and it breaks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72935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4245" y="4283507"/>
            <a:ext cx="2963296" cy="170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614245" y="4525366"/>
            <a:ext cx="2963296" cy="23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css-1x2y3z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614245" y="4834524"/>
            <a:ext cx="2963296" cy="490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 names a build tool made up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93306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4370" y="4283507"/>
            <a:ext cx="296329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74370" y="4564136"/>
            <a:ext cx="296329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that changes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74370" y="4922947"/>
            <a:ext cx="2963296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Prices, dates, “Twitter”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2810" y="5770504"/>
            <a:ext cx="10566166" cy="274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questions for every locator: is it unique, and will it still be true next month?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CSS SELECTORS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 in seven patterns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592497"/>
                <a:gridCol w="4015143"/>
                <a:gridCol w="295852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PATTERN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#user-name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id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this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.a.b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.input_error.form_input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both classes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tag[attr='v']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input[type='submit']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[attr*='v']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[id*='name']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[attr^='v']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[id^='user']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parent &gt;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.login-box &gt; form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direct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# is id and . is class. That is half of CSS.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87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XPATH, TWO KINDS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28222"/>
            <a:ext cx="10566166" cy="422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XPath, then relative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79001"/>
            <a:ext cx="5206868" cy="1574780"/>
          </a:xfrm>
          <a:prstGeom prst="roundRect">
            <a:avLst>
              <a:gd name="adj" fmla="val 645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07601"/>
            <a:ext cx="4724248" cy="183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· THE FULL ROAD FROM THE TOP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67199"/>
            <a:ext cx="4724248" cy="25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 with one /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9034"/>
            <a:ext cx="4724248" cy="526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step from &lt;html&gt; down. What Chrome’s Copy full XPath gives you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549884"/>
            <a:ext cx="5206868" cy="567385"/>
          </a:xfrm>
          <a:prstGeom prst="roundRect">
            <a:avLst>
              <a:gd name="adj" fmla="val 1566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3740353"/>
            <a:ext cx="4775088" cy="186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/html/body/main/form/section[1]/div[1]/input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017" y="1879001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107601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· JUMP STRAIGHT TO IT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388321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 with //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2747040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Anywhere in the page, by what the element is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361700"/>
            <a:ext cx="5206868" cy="600029"/>
          </a:xfrm>
          <a:prstGeom prst="roundRect">
            <a:avLst>
              <a:gd name="adj" fmla="val 1481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3552261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//input[@id='first-name']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2810" y="4345412"/>
            <a:ext cx="10566166" cy="894558"/>
          </a:xfrm>
          <a:prstGeom prst="roundRect">
            <a:avLst>
              <a:gd name="adj" fmla="val 11356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3171"/>
            <a:ext cx="10108966" cy="538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find the First name field on forms.html. Add one &lt;div&gt; above that field and the first one finds nothing — the second still finds it.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468112"/>
            <a:ext cx="10566166" cy="576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Absolute is a street address with every turn. Relative is the person’s name. We write relative.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2509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RELATIVE XPATH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6446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XPath in six patterns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52822"/>
          <a:ext cx="10566166" cy="914400"/>
        </p:xfrm>
        <a:graphic>
          <a:graphicData uri="http://schemas.openxmlformats.org/drawingml/2006/table">
            <a:tbl>
              <a:tblPr/>
              <a:tblGrid>
                <a:gridCol w="5283083"/>
                <a:gridCol w="5283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THE PRACTICE SITE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//input[@id='first-name']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input, anywhere, with this 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//*[@name='email']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tag with this attribute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//input[contains(@placeholder,'first name')]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//input[starts-with(@id,'first')]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//button[normalize-space()='Save draft']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 its visible text — CSS cannot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//input[@type='text' and @name='lastName']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two conditions together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12768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means anywhere in the page. @ means attribute. [ ] means where.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981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IT NOW · FIVE MINUTES · OUR PRACTICE SITE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3765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locators on forms.html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225924"/>
            <a:ext cx="10566166" cy="838139"/>
          </a:xfrm>
          <a:prstGeom prst="roundRect">
            <a:avLst>
              <a:gd name="adj" fmla="val 10604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4163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 website = new File("src/test/resources/practice-site/forms.html");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644993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driver.get(website.toURI().toString());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2810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4029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4029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Email field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using its type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89852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1162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631162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Confirm password field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the [2] trick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66893" y="3305373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08203" y="3533973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208203" y="3814694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Delete draft button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173413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text on it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12810" y="4927793"/>
            <a:ext cx="105661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page shows one locator next to each field. Yours must be different — and </a:t>
            </a:r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of 1</a:t>
            </a:r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Ctrl + F.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54487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swap with the person next to you and try theirs.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you can do with an element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803820"/>
                <a:gridCol w="676234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sendKeys("text")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Types into it, like a keyboard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Clicks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clear()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Empties a text field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getText()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visible text on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getAttribute("value")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is typed in a field (getText is empty for inputs)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isDisplayed()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 it on the screen right now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isEnabled()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Can you use it, or is it greyed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getText reads the label. getAttribute("value") reads what you typed.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6941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30887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login, three locators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97141"/>
            <a:ext cx="10566166" cy="2181210"/>
          </a:xfrm>
          <a:prstGeom prst="roundRect">
            <a:avLst>
              <a:gd name="adj" fmla="val 407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8770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driver.get("https://www.saucedemo.com/");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4448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70205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95918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driver.findElement(By.name("password")).sendKeys("secret_sauce");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21631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driver.findElement(By.cssSelector("[data-test='login-button']")).click();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4735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73066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System.out.println(driver.getCurrentUrl());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field has an 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852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1162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31162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form names 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66893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08203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08203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data-test, written for us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68327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prints https://www.saucedemo.com/inventory.html. But is that a test?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3813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7760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line that checks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65869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9446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PRINTING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7518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System.out.println(text);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33908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read it. If it is wrong, the run is still green.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1965869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19446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247518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Assert.assertEquals(actual, expected);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2833908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reads it. If it is wrong, the run turns red.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3872758"/>
            <a:ext cx="10566166" cy="1295339"/>
          </a:xfrm>
          <a:prstGeom prst="roundRect">
            <a:avLst>
              <a:gd name="adj" fmla="val 686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8700" y="40632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actual = driver.findElement(By.id("form-result")).getText();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42918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Assert.assertEquals(actual, "Draft saved");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5204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749028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java.lang.AssertionError: expected [Draft saveed] but found [Draft saved]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2810" y="540940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Expected and found are the expected and actual of your defect report. That is all we need from assert this week.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32998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TASK · WEEKS 3 AND 4 TOGETHER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7236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task, three parts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· BY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669957"/>
            <a:ext cx="292937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saucedemo as problem_user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491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 the defects, write a full report for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 · BROWSER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ShopVisit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302867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Navigation, window sizes, tabs, priorities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 · LOCATORS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28676"/>
            <a:ext cx="292937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passes for standard_user and fails for problem_user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351995"/>
            <a:ext cx="10566166" cy="926470"/>
          </a:xfrm>
          <a:prstGeom prst="roundRect">
            <a:avLst>
              <a:gd name="adj" fmla="val 10965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9846"/>
            <a:ext cx="10108966" cy="57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Hand in on the form before section 5: the lab sheet, ShopVisit.java, ShopCheck.java and one screenshot of a run. Then run it in front of me at the start of section 5.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5197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sheet is on the repo. The repo is for reading — you hand in on the form.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6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A · BY HAND · NO CODE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189726"/>
            <a:ext cx="10566166" cy="38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Test the shop like a user would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780062"/>
            <a:ext cx="3437412" cy="2160636"/>
          </a:xfrm>
          <a:prstGeom prst="roundRect">
            <a:avLst>
              <a:gd name="adj" fmla="val 47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08662"/>
            <a:ext cx="295479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240554"/>
            <a:ext cx="2954792" cy="228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 in as standard_user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537003"/>
            <a:ext cx="2954792" cy="117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Password secret_sauce. Sort, open a product, add to cart, remove, start a checkout. This is how the shop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should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77141" y="1780062"/>
            <a:ext cx="3437412" cy="2160636"/>
          </a:xfrm>
          <a:prstGeom prst="roundRect">
            <a:avLst>
              <a:gd name="adj" fmla="val 4702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8452" y="2008662"/>
            <a:ext cx="295479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18452" y="2289383"/>
            <a:ext cx="295479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Log out, log in as problem_user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8452" y="2924343"/>
            <a:ext cx="295479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exactly the same things. Every difference is a defect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41564" y="1780062"/>
            <a:ext cx="3437412" cy="2160636"/>
          </a:xfrm>
          <a:prstGeom prst="roundRect">
            <a:avLst>
              <a:gd name="adj" fmla="val 4702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2874" y="2008662"/>
            <a:ext cx="295479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82874" y="2289383"/>
            <a:ext cx="295479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down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82874" y="2648102"/>
            <a:ext cx="295479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Exercise 1: six defects, expected and actual side by side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147718"/>
            <a:ext cx="3437412" cy="1428659"/>
          </a:xfrm>
          <a:prstGeom prst="roundRect">
            <a:avLst>
              <a:gd name="adj" fmla="val 711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376318"/>
            <a:ext cx="2954792" cy="15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601992"/>
            <a:ext cx="2954792" cy="22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full report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890394"/>
            <a:ext cx="2954792" cy="457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defect that hurts the business most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77141" y="4147718"/>
            <a:ext cx="3437412" cy="1428659"/>
          </a:xfrm>
          <a:prstGeom prst="roundRect">
            <a:avLst>
              <a:gd name="adj" fmla="val 711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8452" y="4376318"/>
            <a:ext cx="2954792" cy="15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18452" y="4601992"/>
            <a:ext cx="2954792" cy="22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decide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18452" y="4890394"/>
            <a:ext cx="2954792" cy="457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developer can fix only two. Which?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41564" y="4147718"/>
            <a:ext cx="3437412" cy="1428659"/>
          </a:xfrm>
          <a:prstGeom prst="roundRect">
            <a:avLst>
              <a:gd name="adj" fmla="val 7111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82874" y="4376318"/>
            <a:ext cx="2954792" cy="15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182874" y="4601992"/>
            <a:ext cx="2954792" cy="222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lifecycle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182874" y="4890394"/>
            <a:ext cx="2954792" cy="457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state is your report in?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83306"/>
            <a:ext cx="10566166" cy="261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standard_user is your requirement. Without it there is no expected result.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31920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B · YOUR OWN MAVEN PROJECT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75857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 ShopVisit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446934"/>
          <a:ext cx="10566166" cy="914400"/>
        </p:xfrm>
        <a:graphic>
          <a:graphicData uri="http://schemas.openxmlformats.org/drawingml/2006/table">
            <a:tbl>
              <a:tblPr/>
              <a:tblGrid>
                <a:gridCol w="2324557"/>
                <a:gridCol w="2747203"/>
                <a:gridCol w="549440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ANNOTATION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prepare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@BeforeTest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Opens Chrome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openShop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1)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Opens saucedemo, prints the title and the URL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goAndBack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2)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navigate().to(selenium.dev), back(), prints the title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devices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3)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Phone size, then tablet size, then maximize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newTab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@Test(priority = 4)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Prints the handle, opens a new tab, prints the new handle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tearDown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@AfterTest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Closes the browser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492843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three experiments: swap two priorities, use get() instead of navigate(), delete tearDown. Write what you saw.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C · TODAY'S PART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4631"/>
            <a:ext cx="10566166" cy="398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Write ShopCheck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18467"/>
            <a:ext cx="5206868" cy="1485351"/>
          </a:xfrm>
          <a:prstGeom prst="roundRect">
            <a:avLst>
              <a:gd name="adj" fmla="val 683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47067"/>
            <a:ext cx="4724248" cy="168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8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285817"/>
            <a:ext cx="4724248" cy="235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591135"/>
            <a:ext cx="4724248" cy="484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each one, test it with Ctrl + F, write how many it matched. Only 1 of 1 counts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1818467"/>
            <a:ext cx="5206868" cy="1485351"/>
          </a:xfrm>
          <a:prstGeom prst="roundRect">
            <a:avLst>
              <a:gd name="adj" fmla="val 683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047067"/>
            <a:ext cx="4724248" cy="168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EXERCISE 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2285817"/>
            <a:ext cx="4724248" cy="235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2591135"/>
            <a:ext cx="4724248" cy="484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tests, each with one assertEquals on a defect you found in Part 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3518977"/>
            <a:ext cx="10566166" cy="1766712"/>
          </a:xfrm>
          <a:prstGeom prst="roundRect">
            <a:avLst>
              <a:gd name="adj" fmla="val 503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8700" y="3709446"/>
            <a:ext cx="10134387" cy="197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 user = "standard_user";      // change only this line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3907414"/>
            <a:ext cx="10134387" cy="197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105382"/>
            <a:ext cx="10134387" cy="197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@BeforeTest  -&gt; open Chrome and log in as user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303349"/>
            <a:ext cx="10134387" cy="197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        -&gt; one defect from Part A, one Assert.assertEquals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4501317"/>
            <a:ext cx="10134387" cy="197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        -&gt; another one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8700" y="4699284"/>
            <a:ext cx="10134387" cy="197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        -&gt; and a third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8700" y="4897252"/>
            <a:ext cx="10134387" cy="197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@AfterTest   -&gt; quit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500848"/>
            <a:ext cx="10566166" cy="54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 it as standard_user: three green. Change one line to problem_user: three red. Copy the red messages into the sheet.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59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PART C · WHAT IT LOOKS LIKE WHEN IT RUNS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7536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test, two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STANDARD_USER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passed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shop 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46424"/>
            <a:ext cx="5206868" cy="590520"/>
          </a:xfrm>
          <a:prstGeom prst="roundRect">
            <a:avLst>
              <a:gd name="adj" fmla="val 150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036893"/>
            <a:ext cx="4775088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Tests run: 3, Failures: 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017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PROBLEM_USER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failed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failure is a defect from your lab sheet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846424"/>
            <a:ext cx="5206868" cy="923910"/>
          </a:xfrm>
          <a:prstGeom prst="roundRect">
            <a:avLst>
              <a:gd name="adj" fmla="val 962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403689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Nothing was added to the cart expected [1] but found [0]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87907" y="421785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 but found [Sauce Labs Fleece Jacket]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9881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[Ali] but found [n]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011644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is your Part C. You find the defects by hand in Part A; the script finds them again in three seconds, every night. That is regression.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3443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7389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browser at all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862163"/>
            <a:ext cx="10566166" cy="1409639"/>
          </a:xfrm>
          <a:prstGeom prst="roundRect">
            <a:avLst>
              <a:gd name="adj" fmla="val 630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305272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 https://api.example.com/users/2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30985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566983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 OK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82420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 "id": 2, "email": "janet.weaver@reqres.in" 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451311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website is a costume. Underneath, it talks to a server. Next week we test the server directly, with Postman.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THINGS TO TAKE AWAY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51722"/>
            <a:ext cx="10566166" cy="44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you remember nothing else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Selenium reads HTML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Tag, attribute, value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the locator first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Ctrl + F, and 1 of 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167768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448032"/>
            <a:ext cx="2929372" cy="55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id, name, data-test, CSS, XPath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81985"/>
            <a:ext cx="2929372" cy="284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that order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an absolute XPath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/ at the start means it will break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89852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1162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31162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assert, no test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31162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assertEquals(actual, expected)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66893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08203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08203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task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08203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by hand, B and C in your own project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40329"/>
            <a:ext cx="105661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only two: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02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7915"/>
            <a:ext cx="10566166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10" y="2005005"/>
            <a:ext cx="6349868" cy="2558948"/>
          </a:xfrm>
          <a:prstGeom prst="roundRect">
            <a:avLst>
              <a:gd name="adj" fmla="val 39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4029" y="2233513"/>
            <a:ext cx="5867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CONTACT 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4029" y="2514234"/>
            <a:ext cx="5867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586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mohamed.shehab.fci@gmail.com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telegram  @shebo280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504164"/>
            <a:ext cx="5867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Faculty of Computers and Information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Menoufia University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5858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0" name="Image 0" descr="D:\______Work\Menofia University\1st Term 2026-2027\Software Engineering - 2\Week 4\_deck\assets\se2-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057" y="2157344"/>
            <a:ext cx="1460480" cy="1460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18197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 group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18197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between sessions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474007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4" name="Image 1" descr="D:\______Work\Menofia University\1st Term 2026-2027\Software Engineering - 2\Week 4\_deck\assets\se2-playlis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206" y="2157344"/>
            <a:ext cx="1460480" cy="1460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26346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Recordings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26346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session, in 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12810" y="4827483"/>
            <a:ext cx="10566166" cy="255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Software Engineering 2 · Week 4 · Locators and Assertions — this session is video 4 in the playlist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12810" y="5324643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Install Postman before next week. The task is due at the start of section 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4 - Locators and Assertions</dc:title>
  <dc:subject>PptxGenJS Presentation</dc:subject>
  <dc:creator>PptxGenJS</dc:creator>
  <cp:lastModifiedBy>PptxGenJS</cp:lastModifiedBy>
  <cp:revision>1</cp:revision>
  <dcterms:created xsi:type="dcterms:W3CDTF">2026-10-25T04:06:19Z</dcterms:created>
  <dcterms:modified xsi:type="dcterms:W3CDTF">2026-10-25T04:06:19Z</dcterms:modified>
</cp:coreProperties>
</file>