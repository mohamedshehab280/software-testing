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723004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SOFTWARE ENGINEERING 2 · SECTION 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2162373"/>
            <a:ext cx="1056616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Locators</a:t>
            </a:r>
            <a:endParaRPr lang="en-US" sz="43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4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and assertions</a:t>
            </a:r>
            <a:endParaRPr lang="en-US" sz="43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3583259"/>
            <a:ext cx="10566166" cy="669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Last week the script opened pages. This week it finds the button, presses it, and checks what happened — on its own.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12810" y="4493819"/>
            <a:ext cx="10566166" cy="640994"/>
          </a:xfrm>
          <a:prstGeom prst="roundRect">
            <a:avLst>
              <a:gd name="adj" fmla="val 15849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41410" y="4671578"/>
            <a:ext cx="10108966" cy="285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Eng. Mohamed Shehab · Faculty of Computers and Information, Menoufia University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95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FIRST, ONE THING FROM LAST WEEK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45596"/>
            <a:ext cx="10566166" cy="440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Two browsers open. Why?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923623"/>
            <a:ext cx="4597329" cy="3583259"/>
          </a:xfrm>
          <a:prstGeom prst="roundRect">
            <a:avLst>
              <a:gd name="adj" fmla="val 2480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114093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 class FirstTest {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36171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260933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WebDriver driver = new ChromeDriver();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857043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310466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@BeforeTest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335228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public void prepare() {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3599993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driver = new ChromeDriver();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28700" y="384761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28700" y="409523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575188" y="1923623"/>
            <a:ext cx="5803788" cy="998891"/>
          </a:xfrm>
          <a:prstGeom prst="roundRect">
            <a:avLst>
              <a:gd name="adj" fmla="val 1017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16498" y="2152223"/>
            <a:ext cx="5321168" cy="192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LINE 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816498" y="2425172"/>
            <a:ext cx="5321168" cy="268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Chrome #1, when the class is built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575188" y="3035076"/>
            <a:ext cx="5803788" cy="998891"/>
          </a:xfrm>
          <a:prstGeom prst="roundRect">
            <a:avLst>
              <a:gd name="adj" fmla="val 1017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16498" y="3263585"/>
            <a:ext cx="5321168" cy="192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LINE 7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816498" y="3536625"/>
            <a:ext cx="5321168" cy="268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Chrome #2, before the test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575188" y="4146438"/>
            <a:ext cx="5803788" cy="1360353"/>
          </a:xfrm>
          <a:prstGeom prst="roundRect">
            <a:avLst>
              <a:gd name="adj" fmla="val 7468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816498" y="4375038"/>
            <a:ext cx="5321168" cy="193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RULE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816498" y="4649450"/>
            <a:ext cx="5321168" cy="270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driver, one place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816498" y="5000122"/>
            <a:ext cx="5321168" cy="278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Field or @BeforeTest. Never both.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12810" y="5744535"/>
            <a:ext cx="10566166" cy="300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quit() only reaches the second one. The first stays open for ever.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LAST WEEK, TWO MORE THINGS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193018"/>
            <a:ext cx="10566166" cy="38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open tab, and two ways to close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788749"/>
            <a:ext cx="5206868" cy="3783421"/>
          </a:xfrm>
          <a:prstGeom prst="roundRect">
            <a:avLst>
              <a:gd name="adj" fmla="val 2349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1979219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String first = driver.getWindowHandle();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198309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2417399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driver.findElement(By.linkText(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636398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"Open the Waits page in a new tab")).click();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2855488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3074579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Set&lt;String&gt; all = driver.getWindowHandles();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3293669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all.size();          // 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28700" y="3512668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28700" y="3731758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 (String h : all) {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28700" y="3950848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driver.switchTo().window(h);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28700" y="4169938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97437" y="1788749"/>
            <a:ext cx="5181448" cy="1195212"/>
          </a:xfrm>
          <a:prstGeom prst="roundRect">
            <a:avLst>
              <a:gd name="adj" fmla="val 850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38748" y="2017349"/>
            <a:ext cx="4698919" cy="158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GETWINDOWHANDLE()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38748" y="2241560"/>
            <a:ext cx="4698919" cy="220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String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38748" y="2528133"/>
            <a:ext cx="4698919" cy="227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tab the driver is on now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97437" y="3082808"/>
            <a:ext cx="5181448" cy="1195212"/>
          </a:xfrm>
          <a:prstGeom prst="roundRect">
            <a:avLst>
              <a:gd name="adj" fmla="val 850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38748" y="3311408"/>
            <a:ext cx="4698919" cy="158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GETWINDOWHANDLES()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438748" y="3535619"/>
            <a:ext cx="4698919" cy="220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Set of every tab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38748" y="3822192"/>
            <a:ext cx="4698919" cy="227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Loop over it to switch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97437" y="4376958"/>
            <a:ext cx="5181448" cy="1195212"/>
          </a:xfrm>
          <a:prstGeom prst="roundRect">
            <a:avLst>
              <a:gd name="adj" fmla="val 8500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38748" y="4605558"/>
            <a:ext cx="4698919" cy="158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CLOSE() OR QUIT()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38748" y="4829769"/>
            <a:ext cx="4698919" cy="220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close(): this tab only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438748" y="5116342"/>
            <a:ext cx="4698919" cy="227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quit(): every tab, and the session ends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12810" y="5781020"/>
            <a:ext cx="10566166" cy="264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After close(), switch to another tab before you use the driver again.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616842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TODAY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2056211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Find it. Act on it. Check it.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744572"/>
            <a:ext cx="2517709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973172"/>
            <a:ext cx="203508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3253801"/>
            <a:ext cx="203508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Locators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612612"/>
            <a:ext cx="203508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the script points at one element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95568" y="2744572"/>
            <a:ext cx="2517709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6878" y="2973172"/>
            <a:ext cx="203508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 · ACT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736878" y="3253801"/>
            <a:ext cx="203508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Click, type, read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736878" y="3612612"/>
            <a:ext cx="203508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you do once you found it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78418" y="2744572"/>
            <a:ext cx="2517709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19728" y="2973172"/>
            <a:ext cx="203508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19728" y="3253801"/>
            <a:ext cx="203508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Assertions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19728" y="3612612"/>
            <a:ext cx="2035089" cy="85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step that turns a script into a test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861176" y="2744572"/>
            <a:ext cx="2517709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02486" y="2973172"/>
            <a:ext cx="203508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 · YOUR TASK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102486" y="3253801"/>
            <a:ext cx="2035089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Weeks 3 and 4 together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102486" y="3888760"/>
            <a:ext cx="203508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parts, explained step by step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12810" y="4935931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Most of the time today goes on the task. The assert is one line.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064727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504097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script cannot see the button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2192457"/>
            <a:ext cx="105661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 see a box that says Username. Selenium sees this: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12810" y="2729027"/>
            <a:ext cx="10566166" cy="895289"/>
          </a:xfrm>
          <a:prstGeom prst="roundRect">
            <a:avLst>
              <a:gd name="adj" fmla="val 9927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28700" y="2919496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&lt;input class="input_error form_input" placeholder="Username" type="text"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3176626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data-test="username" id="user-name" name="user-name" value=""&gt;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10" y="3865626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4029" y="4094226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TAG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54029" y="4374855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54029" y="4733666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kind of element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389852" y="3865626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31162" y="4094226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ATTRIBUTES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31162" y="4374855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id name class data-test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631162" y="4733666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Its labels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966893" y="3865626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08203" y="4094226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VALUES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08203" y="4374855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"user-name"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08203" y="4733666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you search for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12810" y="548804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locator is a search: find the one element whose label has this value.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443929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ON YOUR LAPTOP NOW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883390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Look at the HTML yourself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571659"/>
            <a:ext cx="2546330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800259"/>
            <a:ext cx="206370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3080979"/>
            <a:ext cx="2063709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Right-click the field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715939"/>
            <a:ext cx="206370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Choose </a:t>
            </a:r>
            <a:pPr algn="l"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Inspect</a:t>
            </a:r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or press F12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86059" y="2571659"/>
            <a:ext cx="2546330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27369" y="2800259"/>
            <a:ext cx="206370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727369" y="3080979"/>
            <a:ext cx="2063709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highlighted line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727369" y="3715939"/>
            <a:ext cx="206370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Elements tab jumps to that element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59307" y="2571659"/>
            <a:ext cx="2546330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617" y="2800259"/>
            <a:ext cx="206370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00617" y="3080979"/>
            <a:ext cx="2063709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Press Ctrl + F in Elements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617" y="3715939"/>
            <a:ext cx="206370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your locator there to test it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832647" y="2571659"/>
            <a:ext cx="2546330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73957" y="2800259"/>
            <a:ext cx="206370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073957" y="3080979"/>
            <a:ext cx="206370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for “1 of 1”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073957" y="3439698"/>
            <a:ext cx="2063709" cy="85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Exactly one match. Zero or two is a bug in your locator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12810" y="4763018"/>
            <a:ext cx="10566166" cy="650870"/>
          </a:xfrm>
          <a:prstGeom prst="roundRect">
            <a:avLst>
              <a:gd name="adj" fmla="val 15608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41410" y="4940778"/>
            <a:ext cx="101089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it on </a:t>
            </a:r>
            <a:pPr algn="l" indent="0" marL="0">
              <a:lnSpc>
                <a:spcPts val="2300"/>
              </a:lnSpc>
              <a:buNone/>
            </a:pPr>
            <a:r>
              <a:rPr lang="en-US" sz="15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saucedemo.com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now: inspect the Password field and read its id, name and data-test.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439540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878909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findElement or findElements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567269"/>
          <a:ext cx="10566166" cy="914400"/>
        </p:xfrm>
        <a:graphic>
          <a:graphicData uri="http://schemas.openxmlformats.org/drawingml/2006/table">
            <a:tbl>
              <a:tblPr/>
              <a:tblGrid>
                <a:gridCol w="2747203"/>
                <a:gridCol w="3909482"/>
                <a:gridCol w="390948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driver.findElement(...)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driver.findElements(...)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Returns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One WebElement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 List&lt;WebElement&gt;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Finds two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Takes the first one, silently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Gives you both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Finds none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Throws NoSuchElementException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 empty list, size 0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Use it for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element you are about to click or type in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Counting, or checking that something is not there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12810" y="4542008"/>
            <a:ext cx="10566166" cy="876270"/>
          </a:xfrm>
          <a:prstGeom prst="roundRect">
            <a:avLst>
              <a:gd name="adj" fmla="val 10143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28700" y="4732569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driver.findElement(By.id("user-name")).sendKeys("standard_user");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028700" y="4980188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driver.findElements(By.tagName("input")).size();   // 3 on the login page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11671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ALL CHECKED ON SAUCEDEMO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51132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Eight ways to point at an element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339401"/>
          <a:ext cx="10566166" cy="914400"/>
        </p:xfrm>
        <a:graphic>
          <a:graphicData uri="http://schemas.openxmlformats.org/drawingml/2006/table">
            <a:tbl>
              <a:tblPr/>
              <a:tblGrid>
                <a:gridCol w="2535880"/>
                <a:gridCol w="4649113"/>
                <a:gridCol w="338117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LOCATOR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 SAUCEDEMO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FINDS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By.id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By.id("user-name")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Username field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By.name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By.name("password")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Password field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By.className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By.className("login_logo")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Swag Labs logo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By.tagName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By.tagName("input")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All 3 inputs — not one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By.linkText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By.linkText("Facebook")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 link, by its full text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By.partialLinkText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By.partialLinkText("Linked")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 link, by part of it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By.cssSelector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By.cssSelector("[data-test='password']")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Anything, by any attribute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By.xpath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By.xpath("//input[@type='submit']")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Anything, even by its text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5341010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last two can do everything the first six do. That is why they get their own slides.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782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08105"/>
            <a:ext cx="10566166" cy="402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Which one to use first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056028"/>
            <a:ext cx="1539210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336658"/>
            <a:ext cx="1539210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2695468"/>
            <a:ext cx="1539210" cy="85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Unique by rule. Use it when it is there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948849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90159" y="2056028"/>
            <a:ext cx="1539210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190159" y="2336658"/>
            <a:ext cx="1539210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190159" y="2695468"/>
            <a:ext cx="1539210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Usually unique in a form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84978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26289" y="2056028"/>
            <a:ext cx="1539210" cy="173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26289" y="2301270"/>
            <a:ext cx="153921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data-test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326289" y="2614818"/>
            <a:ext cx="1539210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Written for testers. It does not change with the design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221017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62327" y="2056028"/>
            <a:ext cx="1539210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462327" y="2336658"/>
            <a:ext cx="1539210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CSS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462327" y="2695468"/>
            <a:ext cx="1539210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Short and fast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9357147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598457" y="2056028"/>
            <a:ext cx="1539210" cy="173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98457" y="2301270"/>
            <a:ext cx="153921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XPath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598457" y="2614818"/>
            <a:ext cx="1539210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nothing else works, or you need the text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12810" y="4054907"/>
            <a:ext cx="3445825" cy="1498519"/>
          </a:xfrm>
          <a:prstGeom prst="roundRect">
            <a:avLst>
              <a:gd name="adj" fmla="val 677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54029" y="4283507"/>
            <a:ext cx="2963296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AVOID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54029" y="4527012"/>
            <a:ext cx="2963296" cy="47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/html/body/div[2]/div/form/input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054029" y="5078029"/>
            <a:ext cx="2963296" cy="246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new div and it breaks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372935" y="4054907"/>
            <a:ext cx="3445825" cy="1498519"/>
          </a:xfrm>
          <a:prstGeom prst="roundRect">
            <a:avLst>
              <a:gd name="adj" fmla="val 677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614245" y="4283507"/>
            <a:ext cx="2963296" cy="1707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AVOID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614245" y="4525366"/>
            <a:ext cx="2963296" cy="238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css-1x2y3z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614245" y="4834524"/>
            <a:ext cx="2963296" cy="490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Class names a build tool made up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933060" y="4054907"/>
            <a:ext cx="3445825" cy="1498519"/>
          </a:xfrm>
          <a:prstGeom prst="roundRect">
            <a:avLst>
              <a:gd name="adj" fmla="val 677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174370" y="4283507"/>
            <a:ext cx="296329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AVOID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174370" y="4564136"/>
            <a:ext cx="2963296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 that changes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174370" y="4922947"/>
            <a:ext cx="2963296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Prices, dates, “Twitter”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12810" y="5770504"/>
            <a:ext cx="10566166" cy="274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questions for every locator: is it unique, and will it still be true next month?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58397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CSS SELECTORS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97766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CSS in seven patterns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386127"/>
          <a:ext cx="10566166" cy="914400"/>
        </p:xfrm>
        <a:graphic>
          <a:graphicData uri="http://schemas.openxmlformats.org/drawingml/2006/table">
            <a:tbl>
              <a:tblPr/>
              <a:tblGrid>
                <a:gridCol w="3592497"/>
                <a:gridCol w="4015143"/>
                <a:gridCol w="2958527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PATTERN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 SAUCEDEMO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MEANS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#id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#user-name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id equals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.class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.form_input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has this class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.a.b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.input_error.form_input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has both classes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tag[attr='v']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input[type='submit']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equals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[attr*='v']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[id*='name']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contains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[attr^='v']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[id^='user']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starts with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parent &gt; child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.login-box &gt; form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direct child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529437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# is id and . is class. That is half of CSS.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87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XPATH, TWO KINDS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28222"/>
            <a:ext cx="10566166" cy="422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Absolute XPath, then relative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879001"/>
            <a:ext cx="5206868" cy="1574780"/>
          </a:xfrm>
          <a:prstGeom prst="roundRect">
            <a:avLst>
              <a:gd name="adj" fmla="val 6451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107601"/>
            <a:ext cx="4724248" cy="183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ABSOLUTE · THE FULL ROAD FROM THE TOP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367199"/>
            <a:ext cx="4724248" cy="25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Starts with one /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2699034"/>
            <a:ext cx="4724248" cy="526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step from &lt;html&gt; down. What Chrome’s Copy full XPath gives you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10" y="3549884"/>
            <a:ext cx="5206868" cy="567385"/>
          </a:xfrm>
          <a:prstGeom prst="roundRect">
            <a:avLst>
              <a:gd name="adj" fmla="val 15665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28700" y="3740353"/>
            <a:ext cx="4775088" cy="186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/html/body/main/form/section[1]/div[1]/input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017" y="1879001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13327" y="2107601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RELATIVE · JUMP STRAIGHT TO IT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13327" y="2388321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Starts with //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13327" y="2747040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Anywhere in the page, by what the element is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72017" y="3361700"/>
            <a:ext cx="5206868" cy="600029"/>
          </a:xfrm>
          <a:prstGeom prst="roundRect">
            <a:avLst>
              <a:gd name="adj" fmla="val 14813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87907" y="3552261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//input[@id='first-name']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2810" y="4345412"/>
            <a:ext cx="10566166" cy="894558"/>
          </a:xfrm>
          <a:prstGeom prst="roundRect">
            <a:avLst>
              <a:gd name="adj" fmla="val 11356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41410" y="4523171"/>
            <a:ext cx="10108966" cy="538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Both find the First name field on forms.html. Add one &lt;div&gt; above that field and the first one finds nothing — the second still finds it.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5468112"/>
            <a:ext cx="10566166" cy="576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Absolute is a street address with every turn. Relative is the person’s name. We write relative.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425092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RELATIVE XPATH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864462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Relative XPath in six patterns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552822"/>
          <a:ext cx="10566166" cy="914400"/>
        </p:xfrm>
        <a:graphic>
          <a:graphicData uri="http://schemas.openxmlformats.org/drawingml/2006/table">
            <a:tbl>
              <a:tblPr/>
              <a:tblGrid>
                <a:gridCol w="5283083"/>
                <a:gridCol w="528308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 THE PRACTICE SITE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MEANS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//input[@id='first-name']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any input, anywhere, with this id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//*[@name='email']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any tag with this attribute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//input[contains(@placeholder,'first name')]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contains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//input[starts-with(@id,'first')]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starts with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//button[normalize-space()='Save draft']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 its visible text — CSS cannot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//input[@type='text' and @name='lastName']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two conditions together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5127681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// means anywhere in the page. @ means attribute. [ ] means where.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098194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DO IT NOW · FIVE MINUTES · OUR PRACTICE SITE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537655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locators on forms.html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225924"/>
            <a:ext cx="10566166" cy="838139"/>
          </a:xfrm>
          <a:prstGeom prst="roundRect">
            <a:avLst>
              <a:gd name="adj" fmla="val 10604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416393"/>
            <a:ext cx="101343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File website = new File("src/test/resources/practice-site/forms.html");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644993"/>
            <a:ext cx="101343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driver.get(website.toURI().toString());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12810" y="3305373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4029" y="3533973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54029" y="3814694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Email field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54029" y="4173413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Without using its type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389852" y="3305373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31162" y="3533973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631162" y="3814694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Confirm password field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31162" y="4173413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Without the [2] trick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966893" y="3305373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08203" y="3533973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208203" y="3814694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Delete draft button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08203" y="4173413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text on it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12810" y="4927793"/>
            <a:ext cx="10566166" cy="285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page shows one locator next to each field. Yours must be different — and </a:t>
            </a:r>
            <a:pPr algn="l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of 1</a:t>
            </a:r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Ctrl + F.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12810" y="5454487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swap with the person next to you and try theirs.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58397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 · ACT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97766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you can do with an element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386127"/>
          <a:ext cx="10566166" cy="914400"/>
        </p:xfrm>
        <a:graphic>
          <a:graphicData uri="http://schemas.openxmlformats.org/drawingml/2006/table">
            <a:tbl>
              <a:tblPr/>
              <a:tblGrid>
                <a:gridCol w="3803820"/>
                <a:gridCol w="676234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METHOD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WHAT IT DOES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sendKeys("text")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Types into it, like a keyboard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click()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Clicks it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clear()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Empties a text field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getText()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visible text on it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getAttribute("value")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What is typed in a field (getText is empty for inputs)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isDisplayed()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 it on the screen right now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isEnabled()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Can you use it, or is it greyed out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529437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getText reads the label. getAttribute("value") reads what you typed.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69412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 · ACT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308872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login, three locators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997141"/>
            <a:ext cx="10566166" cy="2181210"/>
          </a:xfrm>
          <a:prstGeom prst="roundRect">
            <a:avLst>
              <a:gd name="adj" fmla="val 4075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187702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driver.get("https://www.saucedemo.com/");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44483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2702052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driver.findElement(By.id("user-name")).sendKeys("standard_user");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95918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driver.findElement(By.name("password")).sendKeys("secret_sauce");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321631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driver.findElement(By.cssSelector("[data-test='login-button']")).click();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347353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373066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System.out.println(driver.getCurrentUrl());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10" y="4419661"/>
            <a:ext cx="3411992" cy="1022299"/>
          </a:xfrm>
          <a:prstGeom prst="roundRect">
            <a:avLst>
              <a:gd name="adj" fmla="val 99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4029" y="4648261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BY.ID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54029" y="4928890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field has an id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89852" y="4419661"/>
            <a:ext cx="3411992" cy="1022299"/>
          </a:xfrm>
          <a:prstGeom prst="roundRect">
            <a:avLst>
              <a:gd name="adj" fmla="val 99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31162" y="4648261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BY.NAME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631162" y="4928890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form names it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66893" y="4419661"/>
            <a:ext cx="3411992" cy="1022299"/>
          </a:xfrm>
          <a:prstGeom prst="roundRect">
            <a:avLst>
              <a:gd name="adj" fmla="val 9937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08203" y="4648261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CSS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208203" y="4928890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data-test, written for us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12810" y="5683270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prints https://www.saucedemo.com/inventory.html. But is that a test?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38139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77600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line that checks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965869"/>
            <a:ext cx="5206868" cy="1665580"/>
          </a:xfrm>
          <a:prstGeom prst="roundRect">
            <a:avLst>
              <a:gd name="adj" fmla="val 609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194469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PRINTING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475189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System.out.println(text);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2833908"/>
            <a:ext cx="4724248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 read it. If it is wrong, the run is still green.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017" y="1965869"/>
            <a:ext cx="5206868" cy="1665580"/>
          </a:xfrm>
          <a:prstGeom prst="roundRect">
            <a:avLst>
              <a:gd name="adj" fmla="val 6099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3327" y="2194469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ASSERTING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3327" y="2475189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Assert.assertEquals(actual, expected);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13327" y="2833908"/>
            <a:ext cx="4724248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test reads it. If it is wrong, the run turns red.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10" y="3872758"/>
            <a:ext cx="10566166" cy="1295339"/>
          </a:xfrm>
          <a:prstGeom prst="roundRect">
            <a:avLst>
              <a:gd name="adj" fmla="val 6861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28700" y="4063228"/>
            <a:ext cx="101343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String actual = driver.findElement(By.id("form-result")).getText();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28700" y="4291828"/>
            <a:ext cx="101343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Assert.assertEquals(actual, "Draft saved");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28700" y="4520428"/>
            <a:ext cx="101343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28700" y="4749028"/>
            <a:ext cx="101343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java.lang.AssertionError: expected [Draft saveed] but found [Draft saved]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12810" y="5409408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Expected and found are the expected and actual of your defect report. That is all we need from assert this week.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032998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YOUR TASK · WEEKS 3 AND 4 TOGETHER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472367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task, three parts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160727"/>
            <a:ext cx="3411992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389327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· BY HAND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669957"/>
            <a:ext cx="2929372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 saucedemo as problem_user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304916"/>
            <a:ext cx="2929372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Find the defects, write a full report for one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852" y="2160727"/>
            <a:ext cx="3411992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31162" y="2389327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 · BROWSER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631162" y="2669957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ShopVisit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31162" y="3028676"/>
            <a:ext cx="2929372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Navigation, window sizes, tabs, priorities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66893" y="2160727"/>
            <a:ext cx="3411992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08203" y="2389327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 · LOCATORS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08203" y="2669957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Automate your own defects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208203" y="3028676"/>
            <a:ext cx="2929372" cy="85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passes for standard_user and fails for problem_user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2810" y="4351995"/>
            <a:ext cx="10566166" cy="926470"/>
          </a:xfrm>
          <a:prstGeom prst="roundRect">
            <a:avLst>
              <a:gd name="adj" fmla="val 10965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41410" y="4529846"/>
            <a:ext cx="10108966" cy="570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Hand in on the form before section 5: the lab sheet, ShopVisit.java, ShopCheck.java and one screenshot of a run. Then run it in front of me at the start of section 5.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551977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sheet is on the repo. The repo is for reading — you hand in on the form.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69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PART A · BY HAND · NO CODE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189726"/>
            <a:ext cx="10566166" cy="38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Test the shop like a user would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780062"/>
            <a:ext cx="3437412" cy="2160636"/>
          </a:xfrm>
          <a:prstGeom prst="roundRect">
            <a:avLst>
              <a:gd name="adj" fmla="val 4702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008662"/>
            <a:ext cx="295479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240554"/>
            <a:ext cx="2954792" cy="2282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 in as standard_user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2537003"/>
            <a:ext cx="2954792" cy="117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Password secret_sauce. Sort, open a product, add to cart, remove, start a checkout. This is how the shop </a:t>
            </a:r>
            <a:pPr algn="l"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should</a:t>
            </a:r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work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77141" y="1780062"/>
            <a:ext cx="3437412" cy="2160636"/>
          </a:xfrm>
          <a:prstGeom prst="roundRect">
            <a:avLst>
              <a:gd name="adj" fmla="val 4702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18452" y="2008662"/>
            <a:ext cx="295479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618452" y="2289383"/>
            <a:ext cx="2954792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 out, log in as problem_user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18452" y="2924343"/>
            <a:ext cx="2954792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exactly the same things. Every difference is a defect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41564" y="1780062"/>
            <a:ext cx="3437412" cy="2160636"/>
          </a:xfrm>
          <a:prstGeom prst="roundRect">
            <a:avLst>
              <a:gd name="adj" fmla="val 4702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82874" y="2008662"/>
            <a:ext cx="295479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182874" y="2289383"/>
            <a:ext cx="295479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down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182874" y="2648102"/>
            <a:ext cx="2954792" cy="85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Exercise 1: eight defects. The first is written for you, find the other seven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2810" y="4147718"/>
            <a:ext cx="3437412" cy="1428659"/>
          </a:xfrm>
          <a:prstGeom prst="roundRect">
            <a:avLst>
              <a:gd name="adj" fmla="val 7111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54029" y="4376318"/>
            <a:ext cx="2954792" cy="15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EXERCISE 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4029" y="4601992"/>
            <a:ext cx="2954792" cy="222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full report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054029" y="4890394"/>
            <a:ext cx="2954792" cy="457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defect that hurts the business most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377141" y="4147718"/>
            <a:ext cx="3437412" cy="1428659"/>
          </a:xfrm>
          <a:prstGeom prst="roundRect">
            <a:avLst>
              <a:gd name="adj" fmla="val 7111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18452" y="4376318"/>
            <a:ext cx="2954792" cy="15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EXERCISE 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618452" y="4601992"/>
            <a:ext cx="2954792" cy="222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 decide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618452" y="4890394"/>
            <a:ext cx="2954792" cy="457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developer can fix only two. Which?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941564" y="4147718"/>
            <a:ext cx="3437412" cy="1428659"/>
          </a:xfrm>
          <a:prstGeom prst="roundRect">
            <a:avLst>
              <a:gd name="adj" fmla="val 7111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182874" y="4376318"/>
            <a:ext cx="2954792" cy="15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EXERCISE 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182874" y="4601992"/>
            <a:ext cx="2954792" cy="222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Its lifecycle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182874" y="4890394"/>
            <a:ext cx="2954792" cy="457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state is your report in?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12810" y="5783306"/>
            <a:ext cx="10566166" cy="261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standard_user is your requirement. Without it there is no expected result.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319205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PART B · YOUR OWN MAVEN PROJECT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758574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Write ShopVisit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446934"/>
          <a:ext cx="10566166" cy="914400"/>
        </p:xfrm>
        <a:graphic>
          <a:graphicData uri="http://schemas.openxmlformats.org/drawingml/2006/table">
            <a:tbl>
              <a:tblPr/>
              <a:tblGrid>
                <a:gridCol w="2324557"/>
                <a:gridCol w="2747203"/>
                <a:gridCol w="549440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METHOD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ANNOTATION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WHAT IT DOES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prepare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@BeforeTest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Opens Chrome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openShop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@Test(priority = 1)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Opens saucedemo, prints the title and the URL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goAndBack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@Test(priority = 2)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navigate().to(selenium.dev), back(), prints the title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devices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@Test(priority = 3)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Phone size, then tablet size, then maximize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newTab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@Test(priority = 4)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Prints the handle, opens a new tab, prints the new handle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tearDown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@AfterTest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Closes the browser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4928433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three experiments: swap two priorities, use get() instead of navigate(), delete tearDown. Write what you saw.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74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PART C · TODAY'S PART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199601"/>
            <a:ext cx="10566166" cy="393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Write ShopCheck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805574"/>
            <a:ext cx="5206868" cy="1466240"/>
          </a:xfrm>
          <a:prstGeom prst="roundRect">
            <a:avLst>
              <a:gd name="adj" fmla="val 692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034174"/>
            <a:ext cx="4724248" cy="165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EXERCISE 8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268535"/>
            <a:ext cx="4724248" cy="230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locators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2568092"/>
            <a:ext cx="4724248" cy="4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each one, test it with Ctrl + F, write how many it matched. Only 1 of 1 counts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017" y="1805574"/>
            <a:ext cx="5206868" cy="1466240"/>
          </a:xfrm>
          <a:prstGeom prst="roundRect">
            <a:avLst>
              <a:gd name="adj" fmla="val 6929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3327" y="2034174"/>
            <a:ext cx="4724248" cy="165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EXERCISE 9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3327" y="2268535"/>
            <a:ext cx="4724248" cy="230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Automate your own defects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13327" y="2568092"/>
            <a:ext cx="4724248" cy="4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tests, each with one assertEquals on a defect you found in Part 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10" y="3484230"/>
            <a:ext cx="10566166" cy="1811152"/>
          </a:xfrm>
          <a:prstGeom prst="roundRect">
            <a:avLst>
              <a:gd name="adj" fmla="val 4907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28700" y="3674791"/>
            <a:ext cx="10134387" cy="178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String user = "standard_user";      // change only this line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28700" y="3853556"/>
            <a:ext cx="10134387" cy="178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028700" y="4032321"/>
            <a:ext cx="10134387" cy="178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ChromeOptions options = new ChromeOptions();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028700" y="4211086"/>
            <a:ext cx="10134387" cy="178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options.addArguments("--incognito");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028700" y="4389852"/>
            <a:ext cx="10134387" cy="178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 = new ChromeDriver(options);    // in @BeforeTest, then log in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28700" y="4568617"/>
            <a:ext cx="10134387" cy="178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028700" y="4747382"/>
            <a:ext cx="10134387" cy="178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@Test  x 3   -&gt; one defect from Part A, one Assert.assertEquals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28700" y="4926147"/>
            <a:ext cx="10134387" cy="178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@AfterTest   -&gt; quit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12810" y="5507888"/>
            <a:ext cx="10566166" cy="537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Run it as standard_user: three green. Change one line to problem_user: three red. Copy the red messages into the sheet.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35994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PART C · WHAT IT LOOKS LIKE WHEN IT RUNS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75364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Same test, two users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363724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592324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STANDARD_USER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872953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tests, 3 passed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231764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shop works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10" y="3846424"/>
            <a:ext cx="5206868" cy="590520"/>
          </a:xfrm>
          <a:prstGeom prst="roundRect">
            <a:avLst>
              <a:gd name="adj" fmla="val 15051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28700" y="4036893"/>
            <a:ext cx="4775088" cy="209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Tests run: 3, Failures: 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017" y="2363724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13327" y="2592324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PROBLEM_USER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13327" y="2872953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tests, 3 failed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13327" y="3231764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failure is a defect from your lab sheet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72017" y="3846424"/>
            <a:ext cx="5206868" cy="923910"/>
          </a:xfrm>
          <a:prstGeom prst="roundRect">
            <a:avLst>
              <a:gd name="adj" fmla="val 9620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87907" y="4036893"/>
            <a:ext cx="477508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Nothing was added to the cart expected [1] but found [0]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387907" y="4217853"/>
            <a:ext cx="477508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expected [Sauce Labs Backpack] but found [Sauce Labs Fleece Jacket]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87907" y="4398813"/>
            <a:ext cx="477508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expected [Ali] but found [n]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5011644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This is your Part C. You find the defects by hand in Part A; the script finds them again in three seconds, every night. That is regression.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734434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NEXT WEEK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2173895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browser at all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862163"/>
            <a:ext cx="10566166" cy="1409639"/>
          </a:xfrm>
          <a:prstGeom prst="roundRect">
            <a:avLst>
              <a:gd name="adj" fmla="val 6305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3052724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GET https://api.example.com/users/2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3309854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3566983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200 OK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3824204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 "id": 2, "email": "janet.weaver@reqres.in" }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2810" y="4513113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website is a costume. Underneath, it talks to a server. Next week we test the server directly, with Postman.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97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SIX THINGS TO TAKE AWAY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51722"/>
            <a:ext cx="10566166" cy="446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If you remember nothing else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939168"/>
            <a:ext cx="3411992" cy="1655430"/>
          </a:xfrm>
          <a:prstGeom prst="roundRect">
            <a:avLst>
              <a:gd name="adj" fmla="val 61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167768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448489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Selenium reads HTML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2807208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Tag, attribute, value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852" y="1939168"/>
            <a:ext cx="3411992" cy="1655430"/>
          </a:xfrm>
          <a:prstGeom prst="roundRect">
            <a:avLst>
              <a:gd name="adj" fmla="val 61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31162" y="2167768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631162" y="2448489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 the locator first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31162" y="2807208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Ctrl + F, and 1 of 1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66893" y="1939168"/>
            <a:ext cx="3411992" cy="1655430"/>
          </a:xfrm>
          <a:prstGeom prst="roundRect">
            <a:avLst>
              <a:gd name="adj" fmla="val 61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08203" y="2167768"/>
            <a:ext cx="2929372" cy="197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08203" y="2448032"/>
            <a:ext cx="2929372" cy="55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id, name, data-test, CSS, XPath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208203" y="3081985"/>
            <a:ext cx="2929372" cy="284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that order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2810" y="3835634"/>
            <a:ext cx="3411992" cy="1663659"/>
          </a:xfrm>
          <a:prstGeom prst="roundRect">
            <a:avLst>
              <a:gd name="adj" fmla="val 610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54029" y="4064234"/>
            <a:ext cx="2929372" cy="197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4029" y="4344406"/>
            <a:ext cx="2929372" cy="275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Never an absolute XPath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054029" y="4702668"/>
            <a:ext cx="2929372" cy="568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/ at the start means it will break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389852" y="3835634"/>
            <a:ext cx="3411992" cy="1663659"/>
          </a:xfrm>
          <a:prstGeom prst="roundRect">
            <a:avLst>
              <a:gd name="adj" fmla="val 610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31162" y="4064234"/>
            <a:ext cx="2929372" cy="197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631162" y="4344406"/>
            <a:ext cx="2929372" cy="275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assert, no test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631162" y="4702668"/>
            <a:ext cx="2929372" cy="568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assertEquals(actual, expected)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966893" y="3835634"/>
            <a:ext cx="3411992" cy="1663659"/>
          </a:xfrm>
          <a:prstGeom prst="roundRect">
            <a:avLst>
              <a:gd name="adj" fmla="val 610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08203" y="4064234"/>
            <a:ext cx="2929372" cy="197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208203" y="4344406"/>
            <a:ext cx="2929372" cy="275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task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208203" y="4702668"/>
            <a:ext cx="2929372" cy="568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by hand, B and C in your own project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12810" y="5740329"/>
            <a:ext cx="1056616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only two: </a:t>
            </a:r>
            <a:pPr algn="l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02</a:t>
            </a:r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and </a:t>
            </a:r>
            <a:pPr algn="l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05</a:t>
            </a:r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37915"/>
            <a:ext cx="10566166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00"/>
              </a:lnSpc>
              <a:buNone/>
            </a:pPr>
            <a:r>
              <a:rPr lang="en-US" sz="36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Questions?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10" y="2005005"/>
            <a:ext cx="6349868" cy="2558948"/>
          </a:xfrm>
          <a:prstGeom prst="roundRect">
            <a:avLst>
              <a:gd name="adj" fmla="val 397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4029" y="2233513"/>
            <a:ext cx="5867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CONTACT ME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54029" y="2514234"/>
            <a:ext cx="5867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Eng. Mohamed Shehab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872953"/>
            <a:ext cx="5867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mohamed.shehab.fci@gmail.com</a:t>
            </a:r>
            <a:endParaRPr lang="en-US" sz="14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telegram  @shebo280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504164"/>
            <a:ext cx="5867248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Faculty of Computers and Information</a:t>
            </a:r>
            <a:endParaRPr lang="en-US" sz="14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Menoufia University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65858" y="2005005"/>
            <a:ext cx="1904970" cy="2558948"/>
          </a:xfrm>
          <a:prstGeom prst="roundRect">
            <a:avLst>
              <a:gd name="adj" fmla="val 533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pic>
        <p:nvPicPr>
          <p:cNvPr id="10" name="Image 0" descr="D:\______Work\Menofia University\1st Term 2026-2027\Software Engineering - 2\Week 4\_deck\assets\se2-telegram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8057" y="2157344"/>
            <a:ext cx="1460480" cy="14604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518197" y="3693993"/>
            <a:ext cx="1600200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Telegram group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518197" y="3984864"/>
            <a:ext cx="1600200" cy="42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questions between sessions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9474007" y="2005005"/>
            <a:ext cx="1904970" cy="2558948"/>
          </a:xfrm>
          <a:prstGeom prst="roundRect">
            <a:avLst>
              <a:gd name="adj" fmla="val 533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pic>
        <p:nvPicPr>
          <p:cNvPr id="14" name="Image 1" descr="D:\______Work\Menofia University\1st Term 2026-2027\Software Engineering - 2\Week 4\_deck\assets\se2-playlist-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206" y="2157344"/>
            <a:ext cx="1460480" cy="14604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26346" y="3693993"/>
            <a:ext cx="1600200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Recordings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9626346" y="3984864"/>
            <a:ext cx="1600200" cy="42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session, in order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812810" y="4827483"/>
            <a:ext cx="10566166" cy="255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Software Engineering 2 · Week 4 · Locators and Assertions — this session is video 4 in the playlist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812810" y="5324643"/>
            <a:ext cx="105661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Install Postman before next week. The task is due at the start of section 5.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4 - Locators and Assertions</dc:title>
  <dc:subject>PptxGenJS Presentation</dc:subject>
  <dc:creator>PptxGenJS</dc:creator>
  <cp:lastModifiedBy>PptxGenJS</cp:lastModifiedBy>
  <cp:revision>1</cp:revision>
  <dcterms:created xsi:type="dcterms:W3CDTF">2026-10-25T04:26:57Z</dcterms:created>
  <dcterms:modified xsi:type="dcterms:W3CDTF">2026-10-25T04:26:57Z</dcterms:modified>
</cp:coreProperties>
</file>