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723004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SOFTWARE ENGINEERING 2 · SECTION 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2162373"/>
            <a:ext cx="1056616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3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Locators</a:t>
            </a:r>
            <a:endParaRPr lang="en-US" sz="4300" dirty="0"/>
          </a:p>
          <a:p>
            <a:pPr algn="l" indent="0" marL="0">
              <a:lnSpc>
                <a:spcPts val="4600"/>
              </a:lnSpc>
              <a:buNone/>
            </a:pPr>
            <a:r>
              <a:rPr lang="en-US" sz="43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and assertions</a:t>
            </a:r>
            <a:endParaRPr lang="en-US" sz="4300" dirty="0"/>
          </a:p>
        </p:txBody>
      </p:sp>
      <p:sp>
        <p:nvSpPr>
          <p:cNvPr id="5" name="Text 3"/>
          <p:cNvSpPr txBox="1"/>
          <p:nvPr/>
        </p:nvSpPr>
        <p:spPr>
          <a:xfrm>
            <a:off x="812810" y="3583259"/>
            <a:ext cx="10566166" cy="6692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Last week the script opened pages. This week it finds the button, presses it, and checks what happened — on its own.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12810" y="4493819"/>
            <a:ext cx="10566166" cy="640994"/>
          </a:xfrm>
          <a:prstGeom prst="roundRect">
            <a:avLst>
              <a:gd name="adj" fmla="val 15849"/>
            </a:avLst>
          </a:prstGeom>
          <a:solidFill>
            <a:srgbClr val="1D3153"/>
          </a:solidFill>
          <a:ln w="12700">
            <a:solidFill>
              <a:srgbClr val="D4AF5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41410" y="4671578"/>
            <a:ext cx="10108966" cy="285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Eng. Mohamed Shehab · Faculty of Computers and Information, Menoufia University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1951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FIRST, ONE THING FROM LAST WEEK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245596"/>
            <a:ext cx="10566166" cy="440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Two browsers open. Why?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923623"/>
            <a:ext cx="4597329" cy="3583259"/>
          </a:xfrm>
          <a:prstGeom prst="roundRect">
            <a:avLst>
              <a:gd name="adj" fmla="val 2480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8700" y="2114093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public class FirstTest {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2361712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2609332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WebDriver driver = new ChromeDriver();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2857043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28700" y="3104662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@BeforeTest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28700" y="3352282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public void prepare() {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28700" y="3599993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driver = new ChromeDriver();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28700" y="3847612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}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28700" y="4095232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575188" y="1923623"/>
            <a:ext cx="5803788" cy="998891"/>
          </a:xfrm>
          <a:prstGeom prst="roundRect">
            <a:avLst>
              <a:gd name="adj" fmla="val 1017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816498" y="2152223"/>
            <a:ext cx="5321168" cy="192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LINE 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816498" y="2425172"/>
            <a:ext cx="5321168" cy="268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Chrome #1, when the class is built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575188" y="3035076"/>
            <a:ext cx="5803788" cy="998891"/>
          </a:xfrm>
          <a:prstGeom prst="roundRect">
            <a:avLst>
              <a:gd name="adj" fmla="val 1017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816498" y="3263585"/>
            <a:ext cx="5321168" cy="192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LINE 7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816498" y="3536625"/>
            <a:ext cx="5321168" cy="268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Chrome #2, before the test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575188" y="4146438"/>
            <a:ext cx="5803788" cy="1360353"/>
          </a:xfrm>
          <a:prstGeom prst="roundRect">
            <a:avLst>
              <a:gd name="adj" fmla="val 7468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816498" y="4375038"/>
            <a:ext cx="5321168" cy="193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RULE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816498" y="4649450"/>
            <a:ext cx="5321168" cy="270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driver, one place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816498" y="5000122"/>
            <a:ext cx="5321168" cy="278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Field or @BeforeTest. Never both.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12810" y="5744535"/>
            <a:ext cx="10566166" cy="300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quit() only reaches the second one. The first stays open for ever.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464229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TODAY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903689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Find it. Act on it. Check it.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592050"/>
            <a:ext cx="2517709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820558"/>
            <a:ext cx="203508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3101279"/>
            <a:ext cx="2035089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Locators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3459998"/>
            <a:ext cx="2035089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the script points at one element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95568" y="2592050"/>
            <a:ext cx="2517709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36878" y="2820558"/>
            <a:ext cx="203508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 · ACT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736878" y="3101279"/>
            <a:ext cx="2035089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Click, type, read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736878" y="3459998"/>
            <a:ext cx="2035089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you do once you found it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78418" y="2592050"/>
            <a:ext cx="2517709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19728" y="2820558"/>
            <a:ext cx="203508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 · CHECK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19728" y="3101279"/>
            <a:ext cx="2035089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Assertions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19728" y="3459998"/>
            <a:ext cx="2035089" cy="85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step that turns a script into a test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861176" y="2592050"/>
            <a:ext cx="2517709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02486" y="2820558"/>
            <a:ext cx="203508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04 · REUSE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102486" y="3101279"/>
            <a:ext cx="2035089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ElementActions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9102486" y="3459998"/>
            <a:ext cx="2035089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once, call it everywhere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12810" y="4783318"/>
            <a:ext cx="10566166" cy="610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At the end: one test that passes for a good user and catches every defect you found by hand last week.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064727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504097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script cannot see the button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812810" y="2192457"/>
            <a:ext cx="1056616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You see a box that says Username. Selenium sees this: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12810" y="2729027"/>
            <a:ext cx="10566166" cy="895289"/>
          </a:xfrm>
          <a:prstGeom prst="roundRect">
            <a:avLst>
              <a:gd name="adj" fmla="val 9927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28700" y="2919496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&lt;input class="input_error form_input" placeholder="Username" type="text"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3176626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data-test="username" id="user-name" name="user-name" value=""&gt;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2810" y="3865626"/>
            <a:ext cx="3411992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4029" y="4094226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TAG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54029" y="4374855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054029" y="4733666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kind of element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389852" y="3865626"/>
            <a:ext cx="3411992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31162" y="4094226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ATTRIBUTES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31162" y="4374855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id name class data-test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631162" y="4733666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Its labels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966893" y="3865626"/>
            <a:ext cx="3411992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08203" y="4094226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VALUES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208203" y="4374855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"user-name"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208203" y="4733666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you search for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12810" y="5488046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locator is a search: find the one element whose label has this value.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443929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 · ON YOUR LAPTOP NOW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883390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Look at the HTML yourself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571659"/>
            <a:ext cx="2546330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800259"/>
            <a:ext cx="206370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3080979"/>
            <a:ext cx="2063709" cy="55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Right-click the field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3715939"/>
            <a:ext cx="2063709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Choose </a:t>
            </a:r>
            <a:pPr algn="l"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Inspect</a:t>
            </a:r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, or press F12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86059" y="2571659"/>
            <a:ext cx="2546330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27369" y="2800259"/>
            <a:ext cx="206370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727369" y="3080979"/>
            <a:ext cx="2063709" cy="55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highlighted line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727369" y="3715939"/>
            <a:ext cx="2063709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Elements tab jumps to that element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59307" y="2571659"/>
            <a:ext cx="2546330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617" y="2800259"/>
            <a:ext cx="206370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00617" y="3080979"/>
            <a:ext cx="2063709" cy="55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Press Ctrl + F in Elements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00617" y="3715939"/>
            <a:ext cx="2063709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your locator there to test it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832647" y="2571659"/>
            <a:ext cx="2546330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073957" y="2800259"/>
            <a:ext cx="206370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073957" y="3080979"/>
            <a:ext cx="2063709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for “1 of 1”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9073957" y="3439698"/>
            <a:ext cx="2063709" cy="85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Exactly one match. Zero or two is a bug in your locator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12810" y="4763018"/>
            <a:ext cx="10566166" cy="650870"/>
          </a:xfrm>
          <a:prstGeom prst="roundRect">
            <a:avLst>
              <a:gd name="adj" fmla="val 15608"/>
            </a:avLst>
          </a:prstGeom>
          <a:solidFill>
            <a:srgbClr val="1D3153"/>
          </a:solidFill>
          <a:ln w="12700">
            <a:solidFill>
              <a:srgbClr val="D4AF5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41410" y="4940778"/>
            <a:ext cx="1010896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 it on </a:t>
            </a:r>
            <a:pPr algn="l" indent="0" marL="0">
              <a:lnSpc>
                <a:spcPts val="2300"/>
              </a:lnSpc>
              <a:buNone/>
            </a:pPr>
            <a:r>
              <a:rPr lang="en-US" sz="1500" b="1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saucedemo.com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now: inspect the Password field and read its id, name and data-test.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439540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878909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findElement or findElements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567269"/>
          <a:ext cx="10566166" cy="914400"/>
        </p:xfrm>
        <a:graphic>
          <a:graphicData uri="http://schemas.openxmlformats.org/drawingml/2006/table">
            <a:tbl>
              <a:tblPr/>
              <a:tblGrid>
                <a:gridCol w="2747203"/>
                <a:gridCol w="3909482"/>
                <a:gridCol w="390948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driver.findElement(...)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driver.findElements(...)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Returns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One WebElement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 List&lt;WebElement&gt;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Finds two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Takes the first one, silently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Gives you both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Finds none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Throws NoSuchElementException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An empty list, size 0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Use it for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The element you are about to click or type in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Counting, or checking that something is not there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12810" y="4542008"/>
            <a:ext cx="10566166" cy="876270"/>
          </a:xfrm>
          <a:prstGeom prst="roundRect">
            <a:avLst>
              <a:gd name="adj" fmla="val 10143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28700" y="4732569"/>
            <a:ext cx="10134387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driver.findElement(By.id("user-name")).sendKeys("standard_user");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028700" y="4980188"/>
            <a:ext cx="10134387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driver.findElements(By.tagName("input")).size();   // 3 on the login page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211671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 · ALL CHECKED ON SAUCEDEMO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651132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Eight ways to point at an element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339401"/>
          <a:ext cx="10566166" cy="914400"/>
        </p:xfrm>
        <a:graphic>
          <a:graphicData uri="http://schemas.openxmlformats.org/drawingml/2006/table">
            <a:tbl>
              <a:tblPr/>
              <a:tblGrid>
                <a:gridCol w="2535880"/>
                <a:gridCol w="4649113"/>
                <a:gridCol w="338117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LOCATOR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ON SAUCEDEMO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FINDS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By.id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By.id("user-name")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The Username field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By.name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By.name("password")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The Password field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By.className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By.className("login_logo")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The Swag Labs logo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By.tagName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By.tagName("input")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All 3 inputs — not one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By.linkText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By.linkText("Facebook")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 link, by its full text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By.partialLinkText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By.partialLinkText("Linked")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 link, by part of it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By.cssSelector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By.cssSelector("[data-test='password']")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Anything, by any attribute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By.xpath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By.xpath("//input[@type='submit']")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Anything, even by its text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2810" y="5341010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last two can do everything the first six do. That is why they get their own slides.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1782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208105"/>
            <a:ext cx="10566166" cy="402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Which one to use first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827428"/>
            <a:ext cx="2021830" cy="2010400"/>
          </a:xfrm>
          <a:prstGeom prst="roundRect">
            <a:avLst>
              <a:gd name="adj" fmla="val 5053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056028"/>
            <a:ext cx="1539210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336658"/>
            <a:ext cx="1539210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2695468"/>
            <a:ext cx="1539210" cy="85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Unique by rule. Use it when it is there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948849" y="1827428"/>
            <a:ext cx="2021830" cy="2010400"/>
          </a:xfrm>
          <a:prstGeom prst="roundRect">
            <a:avLst>
              <a:gd name="adj" fmla="val 5053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90159" y="2056028"/>
            <a:ext cx="1539210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190159" y="2336658"/>
            <a:ext cx="1539210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190159" y="2695468"/>
            <a:ext cx="1539210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Usually unique in a form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84978" y="1827428"/>
            <a:ext cx="2021830" cy="2010400"/>
          </a:xfrm>
          <a:prstGeom prst="roundRect">
            <a:avLst>
              <a:gd name="adj" fmla="val 5053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326289" y="2056028"/>
            <a:ext cx="1539210" cy="173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326289" y="2301270"/>
            <a:ext cx="153921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data-test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326289" y="2614818"/>
            <a:ext cx="1539210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Written for testers. It does not change with the design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221017" y="1827428"/>
            <a:ext cx="2021830" cy="2010400"/>
          </a:xfrm>
          <a:prstGeom prst="roundRect">
            <a:avLst>
              <a:gd name="adj" fmla="val 5053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62327" y="2056028"/>
            <a:ext cx="1539210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462327" y="2336658"/>
            <a:ext cx="1539210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CSS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462327" y="2695468"/>
            <a:ext cx="1539210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Short and fast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9357147" y="1827428"/>
            <a:ext cx="2021830" cy="2010400"/>
          </a:xfrm>
          <a:prstGeom prst="roundRect">
            <a:avLst>
              <a:gd name="adj" fmla="val 5053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598457" y="2056028"/>
            <a:ext cx="1539210" cy="173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98457" y="2301270"/>
            <a:ext cx="153921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XPath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9598457" y="2614818"/>
            <a:ext cx="1539210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When nothing else works, or you need the text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12810" y="4054907"/>
            <a:ext cx="3445825" cy="1498519"/>
          </a:xfrm>
          <a:prstGeom prst="roundRect">
            <a:avLst>
              <a:gd name="adj" fmla="val 6779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54029" y="4283507"/>
            <a:ext cx="2963296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AVOID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54029" y="4527012"/>
            <a:ext cx="2963296" cy="47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/html/body/div[2]/div/form/input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054029" y="5078029"/>
            <a:ext cx="2963296" cy="246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new div and it breaks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372935" y="4054907"/>
            <a:ext cx="3445825" cy="1498519"/>
          </a:xfrm>
          <a:prstGeom prst="roundRect">
            <a:avLst>
              <a:gd name="adj" fmla="val 6779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614245" y="4283507"/>
            <a:ext cx="2963296" cy="1707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AVOID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614245" y="4525366"/>
            <a:ext cx="2963296" cy="2380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css-1x2y3z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614245" y="4834524"/>
            <a:ext cx="2963296" cy="490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Class names a build tool made up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933060" y="4054907"/>
            <a:ext cx="3445825" cy="1498519"/>
          </a:xfrm>
          <a:prstGeom prst="roundRect">
            <a:avLst>
              <a:gd name="adj" fmla="val 6779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174370" y="4283507"/>
            <a:ext cx="296329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AVOID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8174370" y="4564136"/>
            <a:ext cx="2963296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 that changes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8174370" y="4922947"/>
            <a:ext cx="2963296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Prices, dates, “Twitter”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812810" y="5770504"/>
            <a:ext cx="10566166" cy="274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questions for every locator: is it unique, and will it still be true next month?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258397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 · CSS SELECTORS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697766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CSS in seven patterns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386127"/>
          <a:ext cx="10566166" cy="914400"/>
        </p:xfrm>
        <a:graphic>
          <a:graphicData uri="http://schemas.openxmlformats.org/drawingml/2006/table">
            <a:tbl>
              <a:tblPr/>
              <a:tblGrid>
                <a:gridCol w="3592497"/>
                <a:gridCol w="4015143"/>
                <a:gridCol w="2958527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PATTERN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ON SAUCEDEMO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MEANS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#id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#user-name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id equals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.class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.form_input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has this class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.a.b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.input_error.form_input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has both classes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tag[attr='v']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input[type='submit']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attribute equals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[attr*='v']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[id*='name']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attribute contains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[attr^='v']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[id^='user']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attribute starts with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parent &gt; child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.login-box &gt; form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direct child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2810" y="5294376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# is id and . is class. That is half of CSS.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425092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 · XPATH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864462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XPath in six patterns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552822"/>
          <a:ext cx="10566166" cy="914400"/>
        </p:xfrm>
        <a:graphic>
          <a:graphicData uri="http://schemas.openxmlformats.org/drawingml/2006/table">
            <a:tbl>
              <a:tblPr/>
              <a:tblGrid>
                <a:gridCol w="5283083"/>
                <a:gridCol w="528308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ON SAUCEDEMO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MEANS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//input[@id='user-name']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any input, anywhere, with this id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//*[@data-test='error']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any tag with this attribute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//input[contains(@class,'form_input')]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attribute contains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//input[starts-with(@id,'user')]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attribute starts with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//span[text()='Products']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 its visible text — CSS cannot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//input[@type='text' and @name='user-name']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two conditions together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2810" y="5127681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// means anywhere in the page. @ means attribute. [ ] means where.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210117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 · THE TRAP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649486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Copy XPath gives you the wrong one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337846"/>
            <a:ext cx="5206868" cy="655259"/>
          </a:xfrm>
          <a:prstGeom prst="roundRect">
            <a:avLst>
              <a:gd name="adj" fmla="val 15504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566446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ABSOLUTE · WHAT CHROME COPIES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12810" y="3094787"/>
            <a:ext cx="5206868" cy="819120"/>
          </a:xfrm>
          <a:prstGeom prst="roundRect">
            <a:avLst>
              <a:gd name="adj" fmla="val 10851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28700" y="3285256"/>
            <a:ext cx="4775088" cy="438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/html/body/div/div/div[2]/div[1]/div/div/form/div[1]/input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72017" y="2337846"/>
            <a:ext cx="5206868" cy="655259"/>
          </a:xfrm>
          <a:prstGeom prst="roundRect">
            <a:avLst>
              <a:gd name="adj" fmla="val 15504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3327" y="2566446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RELATIVE · WHAT YOU WRITE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017" y="3094787"/>
            <a:ext cx="5206868" cy="600029"/>
          </a:xfrm>
          <a:prstGeom prst="roundRect">
            <a:avLst>
              <a:gd name="adj" fmla="val 14813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87907" y="3285256"/>
            <a:ext cx="4775088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//input[@id='user-name']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2810" y="4155216"/>
            <a:ext cx="10566166" cy="946130"/>
          </a:xfrm>
          <a:prstGeom prst="roundRect">
            <a:avLst>
              <a:gd name="adj" fmla="val 10737"/>
            </a:avLst>
          </a:prstGeom>
          <a:solidFill>
            <a:srgbClr val="1D3153"/>
          </a:solidFill>
          <a:ln w="12700">
            <a:solidFill>
              <a:srgbClr val="D4AF5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41410" y="4332976"/>
            <a:ext cx="10108966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first one is a street address with eleven turns. Move one wall and it leads nowhere. The second one is the person’s name.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12810" y="5342565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Never paste a path that starts with a single /.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212494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DO IT NOW · FIVE MINUTES · OUR PRACTICE SITE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651955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Three locators on forms.html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340224"/>
            <a:ext cx="10566166" cy="609539"/>
          </a:xfrm>
          <a:prstGeom prst="roundRect">
            <a:avLst>
              <a:gd name="adj" fmla="val 14581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8700" y="2530693"/>
            <a:ext cx="101343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driver.get(Paths.get("practice-site/forms.html").toUri().toString());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12810" y="3191073"/>
            <a:ext cx="3411992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4029" y="3419673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54029" y="3700394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Email field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054029" y="4059113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Without using its type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389852" y="3191073"/>
            <a:ext cx="3411992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31162" y="3419673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631162" y="3700394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Confirm password field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631162" y="4059113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Without the [2] trick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966893" y="3191073"/>
            <a:ext cx="3411992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08203" y="3419673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208203" y="3700394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Delete draft button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208203" y="4059113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text on it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12810" y="4813493"/>
            <a:ext cx="10566166" cy="285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page shows one locator next to each field. Yours must be different — and </a:t>
            </a:r>
            <a:pPr algn="l"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 of 1</a:t>
            </a:r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in Ctrl + F.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12810" y="5340187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Then swap with the person next to you and try theirs.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258397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 · ACT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697766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you can do with an element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386127"/>
          <a:ext cx="10566166" cy="914400"/>
        </p:xfrm>
        <a:graphic>
          <a:graphicData uri="http://schemas.openxmlformats.org/drawingml/2006/table">
            <a:tbl>
              <a:tblPr/>
              <a:tblGrid>
                <a:gridCol w="3803820"/>
                <a:gridCol w="676234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METHOD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WHAT IT DOES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sendKeys("text")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Types into it, like a keyboard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click()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Clicks it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clear()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Empties a text field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getText()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The visible text on it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getAttribute("value")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What is typed in a field (getText is empty for inputs)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isDisplayed()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Is it on the screen right now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isEnabled()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Can you use it, or is it greyed out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2810" y="5294376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getText reads the label. getAttribute("value") reads what you typed.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69412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 · ACT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308872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login, three locators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997141"/>
            <a:ext cx="10566166" cy="2181210"/>
          </a:xfrm>
          <a:prstGeom prst="roundRect">
            <a:avLst>
              <a:gd name="adj" fmla="val 4075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8700" y="2187702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driver.get("https://www.saucedemo.com/");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2444831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2702052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driver.findElement(By.id("user-name")).sendKeys("standard_user");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2959181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driver.findElement(By.name("password")).sendKeys("secret_sauce");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28700" y="3216311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driver.findElement(By.cssSelector("[data-test='login-button']")).click();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28700" y="3473531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28700" y="3730661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System.out.println(driver.getCurrentUrl());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10" y="4419661"/>
            <a:ext cx="3411992" cy="1022299"/>
          </a:xfrm>
          <a:prstGeom prst="roundRect">
            <a:avLst>
              <a:gd name="adj" fmla="val 9937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54029" y="4648261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BY.ID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54029" y="4928890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field has an id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389852" y="4419661"/>
            <a:ext cx="3411992" cy="1022299"/>
          </a:xfrm>
          <a:prstGeom prst="roundRect">
            <a:avLst>
              <a:gd name="adj" fmla="val 9937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31162" y="4648261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BY.NAME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631162" y="4928890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form names it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966893" y="4419661"/>
            <a:ext cx="3411992" cy="1022299"/>
          </a:xfrm>
          <a:prstGeom prst="roundRect">
            <a:avLst>
              <a:gd name="adj" fmla="val 9937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08203" y="4648261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CSS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208203" y="4928890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data-test, written for us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12810" y="5683270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prints https://www.saucedemo.com/inventory.html. But is that a test?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215055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 · CHECK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654424"/>
            <a:ext cx="10566166" cy="89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Last week every test passed. Even the wrong ones.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789834"/>
            <a:ext cx="5206868" cy="1665580"/>
          </a:xfrm>
          <a:prstGeom prst="roundRect">
            <a:avLst>
              <a:gd name="adj" fmla="val 6099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3018434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PRINTING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3299064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System.out.println(title);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3657783"/>
            <a:ext cx="4724248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You read it. If it is wrong, the run is still green.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72017" y="2789834"/>
            <a:ext cx="5206868" cy="1665580"/>
          </a:xfrm>
          <a:prstGeom prst="roundRect">
            <a:avLst>
              <a:gd name="adj" fmla="val 6099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3327" y="3018434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ASSERTING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13327" y="3299064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Assert.assertEquals(title, "Swag Labs");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13327" y="3657783"/>
            <a:ext cx="4724248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test reads it. If it is wrong, the run turns red.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10" y="4696633"/>
            <a:ext cx="10566166" cy="946130"/>
          </a:xfrm>
          <a:prstGeom prst="roundRect">
            <a:avLst>
              <a:gd name="adj" fmla="val 10737"/>
            </a:avLst>
          </a:prstGeom>
          <a:solidFill>
            <a:srgbClr val="1D3153"/>
          </a:solidFill>
          <a:ln w="12700">
            <a:solidFill>
              <a:srgbClr val="D4AF5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41410" y="4874484"/>
            <a:ext cx="10108966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Precondition → Steps → </a:t>
            </a:r>
            <a:pPr algn="l" indent="0" marL="0">
              <a:lnSpc>
                <a:spcPts val="2300"/>
              </a:lnSpc>
              <a:buNone/>
            </a:pPr>
            <a:r>
              <a:rPr lang="en-US" sz="1500" b="1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Compare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→ Report. Last week we skipped the third step. An assert </a:t>
            </a:r>
            <a:pPr algn="l" indent="0" marL="0">
              <a:lnSpc>
                <a:spcPts val="2300"/>
              </a:lnSpc>
              <a:buNone/>
            </a:pPr>
            <a:r>
              <a:rPr lang="en-US" sz="1500" b="1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is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the compare.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996605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 · CHECK · TESTNG ASSERT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435974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Three asserts do almost everything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124334"/>
            <a:ext cx="10566166" cy="2114459"/>
          </a:xfrm>
          <a:prstGeom prst="roundRect">
            <a:avLst>
              <a:gd name="adj" fmla="val 4203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8700" y="2314804"/>
            <a:ext cx="10134387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Assert.assertEquals(actual, expected);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2562515"/>
            <a:ext cx="10134387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Assert.assertEquals(driver.getTitle(), "Swag Labs");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2810134"/>
            <a:ext cx="10134387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3057754"/>
            <a:ext cx="10134387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Assert.assertTrue(condition, "message if it fails");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28700" y="3305373"/>
            <a:ext cx="10134387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Assert.assertTrue(error.contains("locked out"), "No locked-out message");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28700" y="3553084"/>
            <a:ext cx="10134387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28700" y="3800704"/>
            <a:ext cx="10134387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Assert.assertNotEquals(secondTab, firstTab);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2810" y="4480103"/>
            <a:ext cx="5206868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54029" y="4708703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ACTUAL FIRST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54029" y="4989424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TestNG the order is (actual, expected)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054029" y="5348143"/>
            <a:ext cx="4724248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Swap them and the failure message lies to you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172017" y="4480103"/>
            <a:ext cx="5206868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13327" y="4708703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MESSAGE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13327" y="4989424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what went wrong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413327" y="5348143"/>
            <a:ext cx="4724248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is the actual result of your defect report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415400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 · CHECK · A TEST THAT EXPECTS AN ERROR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854769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Wrong password is a test too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543129"/>
            <a:ext cx="10566166" cy="2047799"/>
          </a:xfrm>
          <a:prstGeom prst="roundRect">
            <a:avLst>
              <a:gd name="adj" fmla="val 4340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8700" y="2733599"/>
            <a:ext cx="1013438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@Test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2971709"/>
            <a:ext cx="1013438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public void wrongPassword() {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3209818"/>
            <a:ext cx="1013438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login("standard_user", "wrong");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3447928"/>
            <a:ext cx="1013438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String error = driver.findElement(By.cssSelector("[data-test='error']")).getText();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28700" y="3686038"/>
            <a:ext cx="1013438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Assert.assertEquals(error,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28700" y="3924239"/>
            <a:ext cx="1013438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"Epic sadface: Username and password do not match any user in this service");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28700" y="4162349"/>
            <a:ext cx="1013438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12810" y="4832238"/>
            <a:ext cx="10566166" cy="610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This test passes when the login fails. That is a negative scenario from week 2, now automated.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307409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 · CHECK · READ THE RED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746870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Is it the test, or the product?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435139"/>
            <a:ext cx="5206868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663739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NOSUCHELEMENTEXCEPTION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944459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test could not find the element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3303179"/>
            <a:ext cx="4724248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Usually your locator. Fix the test.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2810" y="3917838"/>
            <a:ext cx="5206868" cy="780989"/>
          </a:xfrm>
          <a:prstGeom prst="roundRect">
            <a:avLst>
              <a:gd name="adj" fmla="val 11380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28700" y="4108308"/>
            <a:ext cx="4775088" cy="1999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 such element: Unable to locate element: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028700" y="4308378"/>
            <a:ext cx="4775088" cy="1999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{"method":"link text","selector":"Twitter"}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72017" y="2435139"/>
            <a:ext cx="5206868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13327" y="2663739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ASSERTIONERROR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13327" y="2944459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element was there, the value was wrong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13327" y="3303179"/>
            <a:ext cx="4724248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Usually the product. Write a defect report.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72017" y="3917838"/>
            <a:ext cx="5206868" cy="780989"/>
          </a:xfrm>
          <a:prstGeom prst="roundRect">
            <a:avLst>
              <a:gd name="adj" fmla="val 11380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87907" y="4108308"/>
            <a:ext cx="4775088" cy="1999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expected [Sauce Labs Backpack]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387907" y="4308378"/>
            <a:ext cx="4775088" cy="1999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but found [Sauce Labs Fleece Jacket]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12810" y="4940137"/>
            <a:ext cx="10566166" cy="610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Both are real, from preparing this section. The site renamed its Twitter link to X. My test broke; the product did not.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725107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 · CHECK · A FRESH START FOR EACH TEST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2164476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@BeforeTest or @BeforeMethod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852837"/>
          <a:ext cx="10566166" cy="914400"/>
        </p:xfrm>
        <a:graphic>
          <a:graphicData uri="http://schemas.openxmlformats.org/drawingml/2006/table">
            <a:tbl>
              <a:tblPr/>
              <a:tblGrid>
                <a:gridCol w="2958527"/>
                <a:gridCol w="3803820"/>
                <a:gridCol w="38038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@BeforeTest / @AfterTest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@BeforeMethod / @AfterMethod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Runs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Once, around all the tests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Before and after every test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Browsers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One for the whole class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 new one for each test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Use it when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The tests are steps of one journey: log in, add, check out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Each test must start clean: four different logins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In the project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ShopRegression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LoginTest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2810" y="4827666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Still one driver in one place — the place just runs more often.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193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04 · REUSE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242395"/>
            <a:ext cx="10566166" cy="43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ElementActions, like BrowserActions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915485"/>
            <a:ext cx="5460888" cy="4129522"/>
          </a:xfrm>
          <a:prstGeom prst="roundRect">
            <a:avLst>
              <a:gd name="adj" fmla="val 2152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8700" y="2105955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public class ElementActions {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2325045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private final WebDriver driver;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2544135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2763225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public void type(By locator, String text) {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8700" y="2982224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driver.findElement(locator).sendKeys(text);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28700" y="3201314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}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28700" y="3420405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public void click(By locator) {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28700" y="3639495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driver.findElement(locator).click();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28700" y="3858494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}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28700" y="4077584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public String getText(By locator) {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28700" y="4296674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return driver.findElement(locator).getText();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28700" y="4515764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}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28700" y="4734855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51458" y="1915485"/>
            <a:ext cx="4927519" cy="1197132"/>
          </a:xfrm>
          <a:prstGeom prst="roundRect">
            <a:avLst>
              <a:gd name="adj" fmla="val 848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92768" y="2144085"/>
            <a:ext cx="4444898" cy="172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BEFORE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692768" y="2388504"/>
            <a:ext cx="4444898" cy="495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driver.findElement(By.id("user-name")).sendKeys("standard_user");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51458" y="3217316"/>
            <a:ext cx="4927519" cy="1197132"/>
          </a:xfrm>
          <a:prstGeom prst="roundRect">
            <a:avLst>
              <a:gd name="adj" fmla="val 8486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92768" y="3445916"/>
            <a:ext cx="4444898" cy="172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AFTER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692768" y="3690427"/>
            <a:ext cx="4444898" cy="495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page.type(By.id("user-name"), "standard_user");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451458" y="4519239"/>
            <a:ext cx="4927519" cy="1525859"/>
          </a:xfrm>
          <a:prstGeom prst="roundRect">
            <a:avLst>
              <a:gd name="adj" fmla="val 6658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92768" y="4747839"/>
            <a:ext cx="4444898" cy="1751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WHY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692768" y="4996007"/>
            <a:ext cx="4444898" cy="244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place to change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692768" y="5313304"/>
            <a:ext cx="4444898" cy="5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Add a wait next week, and every test gets it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235994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04 · REUSE · THE PROMISE FROM SLIDE 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675364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Same test, two users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363724"/>
            <a:ext cx="5206868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592324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STANDARD_USER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872953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 tests, 3 passed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3231764"/>
            <a:ext cx="4724248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shop works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2810" y="3846424"/>
            <a:ext cx="5206868" cy="590520"/>
          </a:xfrm>
          <a:prstGeom prst="roundRect">
            <a:avLst>
              <a:gd name="adj" fmla="val 15051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28700" y="4036893"/>
            <a:ext cx="4775088" cy="209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Tests run: 3, Failures: 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2017" y="2363724"/>
            <a:ext cx="5206868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13327" y="2592324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PROBLEM_USER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13327" y="2872953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 tests, 3 failed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13327" y="3231764"/>
            <a:ext cx="4724248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Each failure is a defect from your lab sheet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72017" y="3846424"/>
            <a:ext cx="5206868" cy="923910"/>
          </a:xfrm>
          <a:prstGeom prst="roundRect">
            <a:avLst>
              <a:gd name="adj" fmla="val 9620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87907" y="4036893"/>
            <a:ext cx="4775088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Nothing was added to the cart expected [1] but found [0]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387907" y="4217853"/>
            <a:ext cx="4775088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expected [Sauce Labs Backpack] but found [Sauce Labs Fleece Jacket]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387907" y="4398813"/>
            <a:ext cx="4775088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expected [Ali] but found [n]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12810" y="5011644"/>
            <a:ext cx="10566166" cy="610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You found these by hand in an hour. The script finds them again in three seconds, every night. That is regression.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032998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YOUR TASK · WEEKS 3 AND 4 TOGETHER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472367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One task, three parts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160727"/>
            <a:ext cx="3411992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389327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· BY HAND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669957"/>
            <a:ext cx="2929372" cy="55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Test saucedemo as problem_user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3304916"/>
            <a:ext cx="2929372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Find the defects, write a full report for one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89852" y="2160727"/>
            <a:ext cx="3411992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31162" y="2389327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 · BROWSER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631162" y="2669957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ShopVisit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31162" y="3028676"/>
            <a:ext cx="2929372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Navigation, window sizes, tabs, priorities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66893" y="2160727"/>
            <a:ext cx="3411992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08203" y="2389327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 · LOCATORS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208203" y="2669957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Automate your own defects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208203" y="3028676"/>
            <a:ext cx="2929372" cy="85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passes for standard_user and fails for problem_user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12810" y="4351995"/>
            <a:ext cx="10566166" cy="926470"/>
          </a:xfrm>
          <a:prstGeom prst="roundRect">
            <a:avLst>
              <a:gd name="adj" fmla="val 10965"/>
            </a:avLst>
          </a:prstGeom>
          <a:solidFill>
            <a:srgbClr val="1D3153"/>
          </a:solidFill>
          <a:ln w="12700">
            <a:solidFill>
              <a:srgbClr val="D4AF5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41410" y="4529846"/>
            <a:ext cx="10108966" cy="570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Hand in on the form: the lab sheet, your two .java files, and one screenshot of the run. Then run it in front of me at the start of section 5.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12810" y="5519776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Everything you need is on the repo: the lab sheet and two reference files per week.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734434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NEXT WEEK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2173895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 browser at all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862163"/>
            <a:ext cx="10566166" cy="1409639"/>
          </a:xfrm>
          <a:prstGeom prst="roundRect">
            <a:avLst>
              <a:gd name="adj" fmla="val 6305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8700" y="3052724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GET https://api.example.com/users/2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3309854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3566983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200 OK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3824204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{ "id": 2, "email": "janet.weaver@reqres.in" }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2810" y="4513113"/>
            <a:ext cx="10566166" cy="610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website is a costume. Underneath, it talks to a server. Next week we test the server directly, with Postman.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197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SIX THINGS TO TAKE AWAY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251722"/>
            <a:ext cx="10566166" cy="446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If you remember nothing else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939168"/>
            <a:ext cx="3411992" cy="1655430"/>
          </a:xfrm>
          <a:prstGeom prst="roundRect">
            <a:avLst>
              <a:gd name="adj" fmla="val 6137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167768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448489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Selenium reads HTML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2807208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Tag, attribute, value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89852" y="1939168"/>
            <a:ext cx="3411992" cy="1655430"/>
          </a:xfrm>
          <a:prstGeom prst="roundRect">
            <a:avLst>
              <a:gd name="adj" fmla="val 6137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31162" y="2167768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631162" y="2448489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Test the locator first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31162" y="2807208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Ctrl + F, and 1 of 1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66893" y="1939168"/>
            <a:ext cx="3411992" cy="1655430"/>
          </a:xfrm>
          <a:prstGeom prst="roundRect">
            <a:avLst>
              <a:gd name="adj" fmla="val 6137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08203" y="2167768"/>
            <a:ext cx="2929372" cy="197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208203" y="2448032"/>
            <a:ext cx="2929372" cy="55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id, name, data-test, CSS, XPath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208203" y="3081985"/>
            <a:ext cx="2929372" cy="284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that order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12810" y="3835634"/>
            <a:ext cx="3411992" cy="1663659"/>
          </a:xfrm>
          <a:prstGeom prst="roundRect">
            <a:avLst>
              <a:gd name="adj" fmla="val 610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54029" y="4064234"/>
            <a:ext cx="2929372" cy="197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4029" y="4344406"/>
            <a:ext cx="2929372" cy="275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Never an absolute XPath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054029" y="4702668"/>
            <a:ext cx="2929372" cy="568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/ at the start means it will break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389852" y="3835634"/>
            <a:ext cx="3411992" cy="1663659"/>
          </a:xfrm>
          <a:prstGeom prst="roundRect">
            <a:avLst>
              <a:gd name="adj" fmla="val 6106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31162" y="4064234"/>
            <a:ext cx="2929372" cy="197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631162" y="4344406"/>
            <a:ext cx="2929372" cy="275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assert, no test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4631162" y="4702668"/>
            <a:ext cx="2929372" cy="568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assertEquals(actual, expected)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966893" y="3835634"/>
            <a:ext cx="3411992" cy="1663659"/>
          </a:xfrm>
          <a:prstGeom prst="roundRect">
            <a:avLst>
              <a:gd name="adj" fmla="val 610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08203" y="4064234"/>
            <a:ext cx="2929372" cy="197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208203" y="4344406"/>
            <a:ext cx="2929372" cy="275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Red has two meanings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208203" y="4702668"/>
            <a:ext cx="2929372" cy="568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NoSuchElement: the test. AssertionError: the product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12810" y="5740329"/>
            <a:ext cx="1056616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only two: </a:t>
            </a:r>
            <a:pPr algn="l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05</a:t>
            </a:r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and </a:t>
            </a:r>
            <a:pPr algn="l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06</a:t>
            </a:r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237915"/>
            <a:ext cx="10566166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00"/>
              </a:lnSpc>
              <a:buNone/>
            </a:pPr>
            <a:r>
              <a:rPr lang="en-US" sz="36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Questions?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2810" y="2005005"/>
            <a:ext cx="6349868" cy="2558948"/>
          </a:xfrm>
          <a:prstGeom prst="roundRect">
            <a:avLst>
              <a:gd name="adj" fmla="val 397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4029" y="2233513"/>
            <a:ext cx="5867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CONTACT ME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54029" y="2514234"/>
            <a:ext cx="5867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Eng. Mohamed Shehab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872953"/>
            <a:ext cx="5867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mohamed.shehab.fci@gmail.com</a:t>
            </a:r>
            <a:endParaRPr lang="en-US" sz="1400" dirty="0"/>
          </a:p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telegram  @shebo280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3504164"/>
            <a:ext cx="5867248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Faculty of Computers and Information</a:t>
            </a:r>
            <a:endParaRPr lang="en-US" sz="1400" dirty="0"/>
          </a:p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Menoufia University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65858" y="2005005"/>
            <a:ext cx="1904970" cy="2558948"/>
          </a:xfrm>
          <a:prstGeom prst="roundRect">
            <a:avLst>
              <a:gd name="adj" fmla="val 5333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pic>
        <p:nvPicPr>
          <p:cNvPr id="10" name="Image 0" descr="D:\______Work\Menofia University\1st Term 2026-2027\Software Engineering - 2\Week 4\_deck\assets\se2-telegram-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8057" y="2157344"/>
            <a:ext cx="1460480" cy="146048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7518197" y="3693993"/>
            <a:ext cx="1600200" cy="214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Telegram group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518197" y="3984864"/>
            <a:ext cx="1600200" cy="42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questions between sessions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9474007" y="2005005"/>
            <a:ext cx="1904970" cy="2558948"/>
          </a:xfrm>
          <a:prstGeom prst="roundRect">
            <a:avLst>
              <a:gd name="adj" fmla="val 5333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pic>
        <p:nvPicPr>
          <p:cNvPr id="14" name="Image 1" descr="D:\______Work\Menofia University\1st Term 2026-2027\Software Engineering - 2\Week 4\_deck\assets\se2-playlist-q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206" y="2157344"/>
            <a:ext cx="1460480" cy="146048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626346" y="3693993"/>
            <a:ext cx="1600200" cy="214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Recordings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9626346" y="3984864"/>
            <a:ext cx="1600200" cy="42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session, in order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812810" y="4827483"/>
            <a:ext cx="10566166" cy="255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Software Engineering 2 · Week 4 · Locators and Assertions — this session is video 4 in the playlist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812810" y="5324643"/>
            <a:ext cx="1056616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Install Postman before next week. The task is due at the start of section 5.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4 - Locators and Assertions</dc:title>
  <dc:subject>PptxGenJS Presentation</dc:subject>
  <dc:creator>PptxGenJS</dc:creator>
  <cp:lastModifiedBy>PptxGenJS</cp:lastModifiedBy>
  <cp:revision>1</cp:revision>
  <dcterms:created xsi:type="dcterms:W3CDTF">2026-10-25T03:08:37Z</dcterms:created>
  <dcterms:modified xsi:type="dcterms:W3CDTF">2026-10-25T03:08:37Z</dcterms:modified>
</cp:coreProperties>
</file>